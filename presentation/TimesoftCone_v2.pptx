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96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297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3F0FF"/>
          </a:solidFill>
          <a:ln/>
        </p:spPr>
      </p:sp>
      <p:pic>
        <p:nvPicPr>
          <p:cNvPr id="3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914400"/>
            <a:ext cx="533400" cy="533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71650" y="895350"/>
            <a:ext cx="26578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0" spc="-72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타임소프트콘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1771650" y="1295400"/>
            <a:ext cx="16019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kern="0" spc="150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TIMESOFT·CONE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16217872" y="366987"/>
            <a:ext cx="1777752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975" b="1" kern="0" spc="75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</a:t>
            </a:r>
            <a:r>
              <a:rPr lang="ko-KR" altLang="en-US" sz="975" b="1" kern="0" spc="75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공학</a:t>
            </a:r>
            <a:r>
              <a:rPr lang="en-US" sz="975" b="1" kern="0" spc="75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</a:t>
            </a:r>
            <a:endParaRPr lang="en-US" sz="975" dirty="0"/>
          </a:p>
        </p:txBody>
      </p:sp>
      <p:sp>
        <p:nvSpPr>
          <p:cNvPr id="8" name="Text 4"/>
          <p:cNvSpPr/>
          <p:nvPr/>
        </p:nvSpPr>
        <p:spPr>
          <a:xfrm>
            <a:off x="16217872" y="577430"/>
            <a:ext cx="1777752" cy="297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200" dirty="0">
                <a:solidFill>
                  <a:srgbClr val="3B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사내 </a:t>
            </a:r>
            <a:r>
              <a:rPr lang="en-US" sz="1200" dirty="0" err="1">
                <a:solidFill>
                  <a:srgbClr val="3B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</a:t>
            </a:r>
            <a:r>
              <a:rPr lang="en-US" sz="1200" dirty="0">
                <a:solidFill>
                  <a:srgbClr val="3B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dirty="0">
                <a:solidFill>
                  <a:srgbClr val="3B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6217872" y="855515"/>
            <a:ext cx="177775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125" dirty="0">
                <a:solidFill>
                  <a:srgbClr val="839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· 06 </a:t>
            </a:r>
            <a:r>
              <a:rPr lang="en-US" altLang="ko-KR" sz="1125" dirty="0">
                <a:solidFill>
                  <a:srgbClr val="839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06</a:t>
            </a:r>
            <a:endParaRPr lang="en-US" sz="1125" dirty="0"/>
          </a:p>
        </p:txBody>
      </p:sp>
      <p:sp>
        <p:nvSpPr>
          <p:cNvPr id="10" name="Shape 6"/>
          <p:cNvSpPr/>
          <p:nvPr/>
        </p:nvSpPr>
        <p:spPr>
          <a:xfrm>
            <a:off x="1047750" y="2416373"/>
            <a:ext cx="3093169" cy="4333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1257300" y="2590205"/>
            <a:ext cx="85725" cy="85725"/>
          </a:xfrm>
          <a:prstGeom prst="ellipse">
            <a:avLst/>
          </a:prstGeom>
          <a:solidFill>
            <a:srgbClr val="1B64DA"/>
          </a:solidFill>
          <a:ln/>
        </p:spPr>
      </p:sp>
      <p:sp>
        <p:nvSpPr>
          <p:cNvPr id="12" name="Text 8"/>
          <p:cNvSpPr/>
          <p:nvPr/>
        </p:nvSpPr>
        <p:spPr>
          <a:xfrm>
            <a:off x="1457325" y="2530673"/>
            <a:ext cx="323887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05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B2E · ESCROW &amp; DIVIDEND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047750" y="3173611"/>
            <a:ext cx="11576685" cy="2875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400" b="1" kern="0" spc="-399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연차 </a:t>
            </a:r>
            <a:r>
              <a:rPr lang="en-US" sz="11400" b="1" kern="0" spc="-399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경매 </a:t>
            </a:r>
            <a:r>
              <a:rPr lang="en-US" sz="11400" b="1" kern="0" spc="-399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</a:t>
            </a:r>
            <a:endParaRPr lang="en-US" sz="11400" dirty="0"/>
          </a:p>
        </p:txBody>
      </p:sp>
      <p:sp>
        <p:nvSpPr>
          <p:cNvPr id="14" name="Text 10"/>
          <p:cNvSpPr/>
          <p:nvPr/>
        </p:nvSpPr>
        <p:spPr>
          <a:xfrm>
            <a:off x="1047750" y="6382642"/>
            <a:ext cx="9288946" cy="125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B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남는 연차와 필요한 연차를 잇는 </a:t>
            </a:r>
            <a:r>
              <a:rPr lang="en-US" sz="24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경매 플랫폼 </a:t>
            </a:r>
            <a:r>
              <a:rPr lang="en-US" sz="2400" dirty="0">
                <a:solidFill>
                  <a:srgbClr val="3B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3B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미사용</a:t>
            </a:r>
            <a:r>
              <a:rPr lang="en-US" sz="2400" dirty="0">
                <a:solidFill>
                  <a:srgbClr val="3B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연차를 공용 풀에 기여하고, 복지 포인트로 입찰해 자유롭게 씁니다.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047750" y="8201025"/>
            <a:ext cx="705300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81100" y="872490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1575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A82D07C-E052-CEBD-582A-FB2969D26D66}"/>
              </a:ext>
            </a:extLst>
          </p:cNvPr>
          <p:cNvGrpSpPr/>
          <p:nvPr/>
        </p:nvGrpSpPr>
        <p:grpSpPr>
          <a:xfrm>
            <a:off x="1047750" y="8553450"/>
            <a:ext cx="2835137" cy="866774"/>
            <a:chOff x="1047750" y="8553450"/>
            <a:chExt cx="2835137" cy="866774"/>
          </a:xfrm>
        </p:grpSpPr>
        <p:sp>
          <p:nvSpPr>
            <p:cNvPr id="16" name="Shape 12"/>
            <p:cNvSpPr/>
            <p:nvPr/>
          </p:nvSpPr>
          <p:spPr>
            <a:xfrm>
              <a:off x="1047750" y="8553450"/>
              <a:ext cx="2835137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/>
          </p:spPr>
        </p:sp>
        <p:sp>
          <p:nvSpPr>
            <p:cNvPr id="19" name="Text 15"/>
            <p:cNvSpPr/>
            <p:nvPr/>
          </p:nvSpPr>
          <p:spPr>
            <a:xfrm>
              <a:off x="1181100" y="8763000"/>
              <a:ext cx="900485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ko-KR" altLang="en-US" sz="1500" b="1" kern="0" spc="-30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김기철</a:t>
              </a:r>
              <a:endParaRPr lang="en-US" sz="1500" dirty="0"/>
            </a:p>
          </p:txBody>
        </p:sp>
        <p:sp>
          <p:nvSpPr>
            <p:cNvPr id="20" name="Text 16"/>
            <p:cNvSpPr/>
            <p:nvPr/>
          </p:nvSpPr>
          <p:spPr>
            <a:xfrm>
              <a:off x="1181100" y="9020175"/>
              <a:ext cx="2600698" cy="4000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1050" dirty="0">
                  <a:solidFill>
                    <a:srgbClr val="8392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기획</a:t>
              </a:r>
              <a:r>
                <a:rPr lang="en-US" altLang="ko-KR" sz="1050" dirty="0">
                  <a:solidFill>
                    <a:srgbClr val="8392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</a:t>
              </a:r>
              <a:r>
                <a:rPr lang="ko-KR" altLang="en-US" sz="1050" dirty="0">
                  <a:solidFill>
                    <a:srgbClr val="8392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설계</a:t>
              </a:r>
              <a:r>
                <a:rPr lang="en-US" altLang="ko-KR" sz="1050" dirty="0">
                  <a:solidFill>
                    <a:srgbClr val="8392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DB, </a:t>
              </a:r>
              <a:r>
                <a:rPr lang="ko-KR" altLang="en-US" sz="1050" dirty="0">
                  <a:solidFill>
                    <a:srgbClr val="8392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외부 시스템 연동</a:t>
              </a:r>
              <a:r>
                <a:rPr lang="en-US" altLang="ko-KR" sz="1050" dirty="0">
                  <a:solidFill>
                    <a:srgbClr val="8392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</p:grpSp>
      <p:sp>
        <p:nvSpPr>
          <p:cNvPr id="23" name="Text 19"/>
          <p:cNvSpPr/>
          <p:nvPr/>
        </p:nvSpPr>
        <p:spPr>
          <a:xfrm>
            <a:off x="3129335" y="872490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</a:t>
            </a:r>
            <a:endParaRPr lang="en-US" sz="1575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EFC18E1-CCA4-AC23-1948-D12FCE862F0A}"/>
              </a:ext>
            </a:extLst>
          </p:cNvPr>
          <p:cNvGrpSpPr/>
          <p:nvPr/>
        </p:nvGrpSpPr>
        <p:grpSpPr>
          <a:xfrm>
            <a:off x="4135177" y="8548688"/>
            <a:ext cx="2835137" cy="866774"/>
            <a:chOff x="1047750" y="8553450"/>
            <a:chExt cx="2835137" cy="866774"/>
          </a:xfrm>
        </p:grpSpPr>
        <p:sp>
          <p:nvSpPr>
            <p:cNvPr id="53" name="Shape 12">
              <a:extLst>
                <a:ext uri="{FF2B5EF4-FFF2-40B4-BE49-F238E27FC236}">
                  <a16:creationId xmlns:a16="http://schemas.microsoft.com/office/drawing/2014/main" id="{DC17170D-8CEA-9E3E-C87A-5F04CB3E69BE}"/>
                </a:ext>
              </a:extLst>
            </p:cNvPr>
            <p:cNvSpPr/>
            <p:nvPr/>
          </p:nvSpPr>
          <p:spPr>
            <a:xfrm>
              <a:off x="1047750" y="8553450"/>
              <a:ext cx="2835137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/>
          </p:spPr>
        </p:sp>
        <p:sp>
          <p:nvSpPr>
            <p:cNvPr id="54" name="Text 15">
              <a:extLst>
                <a:ext uri="{FF2B5EF4-FFF2-40B4-BE49-F238E27FC236}">
                  <a16:creationId xmlns:a16="http://schemas.microsoft.com/office/drawing/2014/main" id="{C5E3CE9C-DD54-6153-35E1-413743A48E6E}"/>
                </a:ext>
              </a:extLst>
            </p:cNvPr>
            <p:cNvSpPr/>
            <p:nvPr/>
          </p:nvSpPr>
          <p:spPr>
            <a:xfrm>
              <a:off x="1181100" y="8763000"/>
              <a:ext cx="900485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ko-KR" altLang="en-US" sz="1500" b="1" kern="0" spc="-30">
                  <a:solidFill>
                    <a:srgbClr val="0B1929"/>
                  </a:solidFill>
                  <a:latin typeface="Arial" pitchFamily="34" charset="0"/>
                  <a:cs typeface="Arial" pitchFamily="34" charset="-120"/>
                </a:rPr>
                <a:t>오지석</a:t>
              </a:r>
              <a:endParaRPr lang="en-US" sz="1500" dirty="0"/>
            </a:p>
          </p:txBody>
        </p:sp>
        <p:sp>
          <p:nvSpPr>
            <p:cNvPr id="55" name="Text 16">
              <a:extLst>
                <a:ext uri="{FF2B5EF4-FFF2-40B4-BE49-F238E27FC236}">
                  <a16:creationId xmlns:a16="http://schemas.microsoft.com/office/drawing/2014/main" id="{C3266051-1145-354B-4AD2-B0ED3A09F3E5}"/>
                </a:ext>
              </a:extLst>
            </p:cNvPr>
            <p:cNvSpPr/>
            <p:nvPr/>
          </p:nvSpPr>
          <p:spPr>
            <a:xfrm>
              <a:off x="1181100" y="9020175"/>
              <a:ext cx="2600698" cy="4000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1050" dirty="0">
                  <a:solidFill>
                    <a:srgbClr val="8392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전체 개발</a:t>
              </a:r>
              <a:r>
                <a:rPr lang="en-US" altLang="ko-KR" sz="1050" dirty="0">
                  <a:solidFill>
                    <a:srgbClr val="8392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ko-KR" altLang="en-US" sz="1050" dirty="0">
                  <a:solidFill>
                    <a:srgbClr val="8392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디자인 설계</a:t>
              </a:r>
              <a:endParaRPr lang="en-US" altLang="ko-KR" sz="1050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52" y="26504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800100"/>
            <a:ext cx="28575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0175" y="769145"/>
            <a:ext cx="1423541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-47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타임소프트콘</a:t>
            </a:r>
            <a:endParaRPr lang="en-US" sz="1575" dirty="0"/>
          </a:p>
        </p:txBody>
      </p:sp>
      <p:sp>
        <p:nvSpPr>
          <p:cNvPr id="5" name="Text 2"/>
          <p:cNvSpPr/>
          <p:nvPr/>
        </p:nvSpPr>
        <p:spPr>
          <a:xfrm>
            <a:off x="16480631" y="857250"/>
            <a:ext cx="8929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150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 및 내용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990600" y="1581150"/>
            <a:ext cx="167960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188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· 목차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990600" y="1905000"/>
            <a:ext cx="16796004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173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논의할 내용</a:t>
            </a:r>
            <a:endParaRPr lang="en-US" sz="4950" dirty="0"/>
          </a:p>
        </p:txBody>
      </p:sp>
      <p:sp>
        <p:nvSpPr>
          <p:cNvPr id="8" name="Shape 5"/>
          <p:cNvSpPr/>
          <p:nvPr/>
        </p:nvSpPr>
        <p:spPr>
          <a:xfrm>
            <a:off x="990600" y="2927152"/>
            <a:ext cx="16306800" cy="14288"/>
          </a:xfrm>
          <a:prstGeom prst="rect">
            <a:avLst/>
          </a:prstGeom>
          <a:solidFill>
            <a:srgbClr val="DDE6F3"/>
          </a:solidFill>
          <a:ln/>
        </p:spPr>
      </p:sp>
      <p:sp>
        <p:nvSpPr>
          <p:cNvPr id="9" name="Text 6"/>
          <p:cNvSpPr/>
          <p:nvPr/>
        </p:nvSpPr>
        <p:spPr>
          <a:xfrm>
            <a:off x="990600" y="3284339"/>
            <a:ext cx="78105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B6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2019300" y="3189089"/>
            <a:ext cx="2802042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kern="0" spc="-62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2019300" y="3632002"/>
            <a:ext cx="2802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연차 경매 시스템이란 — 배경과 목표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90600" y="4108252"/>
            <a:ext cx="16306800" cy="14288"/>
          </a:xfrm>
          <a:prstGeom prst="rect">
            <a:avLst/>
          </a:prstGeom>
          <a:solidFill>
            <a:srgbClr val="DDE6F3"/>
          </a:solidFill>
          <a:ln/>
        </p:spPr>
      </p:sp>
      <p:sp>
        <p:nvSpPr>
          <p:cNvPr id="13" name="Text 10"/>
          <p:cNvSpPr/>
          <p:nvPr/>
        </p:nvSpPr>
        <p:spPr>
          <a:xfrm>
            <a:off x="990600" y="4465439"/>
            <a:ext cx="78105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B6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850" dirty="0"/>
          </a:p>
        </p:txBody>
      </p:sp>
      <p:sp>
        <p:nvSpPr>
          <p:cNvPr id="14" name="Text 11"/>
          <p:cNvSpPr/>
          <p:nvPr/>
        </p:nvSpPr>
        <p:spPr>
          <a:xfrm>
            <a:off x="2019300" y="4370189"/>
            <a:ext cx="2802042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kern="0" spc="-62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발표 내용 요약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19300" y="4813102"/>
            <a:ext cx="25672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지난 스프린트 결과와 피드백 정리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90600" y="5289352"/>
            <a:ext cx="16306800" cy="14288"/>
          </a:xfrm>
          <a:prstGeom prst="rect">
            <a:avLst/>
          </a:prstGeom>
          <a:solidFill>
            <a:srgbClr val="DDE6F3"/>
          </a:solidFill>
          <a:ln/>
        </p:spPr>
      </p:sp>
      <p:sp>
        <p:nvSpPr>
          <p:cNvPr id="17" name="Text 14"/>
          <p:cNvSpPr/>
          <p:nvPr/>
        </p:nvSpPr>
        <p:spPr>
          <a:xfrm>
            <a:off x="990600" y="5646539"/>
            <a:ext cx="78105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B6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850" dirty="0"/>
          </a:p>
        </p:txBody>
      </p:sp>
      <p:sp>
        <p:nvSpPr>
          <p:cNvPr id="18" name="Text 15"/>
          <p:cNvSpPr/>
          <p:nvPr/>
        </p:nvSpPr>
        <p:spPr>
          <a:xfrm>
            <a:off x="2019300" y="5551289"/>
            <a:ext cx="2363242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kern="0" spc="-62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설명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2019300" y="5994202"/>
            <a:ext cx="23632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 · 경매 · 입찰 · 배당 플로우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90600" y="7651552"/>
            <a:ext cx="16306800" cy="14288"/>
          </a:xfrm>
          <a:prstGeom prst="rect">
            <a:avLst/>
          </a:prstGeom>
          <a:solidFill>
            <a:srgbClr val="DDE6F3"/>
          </a:solidFill>
          <a:ln/>
        </p:spPr>
      </p:sp>
      <p:sp>
        <p:nvSpPr>
          <p:cNvPr id="21" name="Shape 18"/>
          <p:cNvSpPr/>
          <p:nvPr/>
        </p:nvSpPr>
        <p:spPr>
          <a:xfrm>
            <a:off x="990600" y="6470452"/>
            <a:ext cx="16306800" cy="14288"/>
          </a:xfrm>
          <a:prstGeom prst="rect">
            <a:avLst/>
          </a:prstGeom>
          <a:solidFill>
            <a:srgbClr val="DDE6F3"/>
          </a:solidFill>
          <a:ln/>
        </p:spPr>
      </p:sp>
      <p:sp>
        <p:nvSpPr>
          <p:cNvPr id="22" name="Text 19"/>
          <p:cNvSpPr/>
          <p:nvPr/>
        </p:nvSpPr>
        <p:spPr>
          <a:xfrm>
            <a:off x="990600" y="6827639"/>
            <a:ext cx="78105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B6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850" dirty="0"/>
          </a:p>
        </p:txBody>
      </p:sp>
      <p:sp>
        <p:nvSpPr>
          <p:cNvPr id="23" name="Text 20"/>
          <p:cNvSpPr/>
          <p:nvPr/>
        </p:nvSpPr>
        <p:spPr>
          <a:xfrm>
            <a:off x="2019300" y="6732389"/>
            <a:ext cx="2638479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kern="0" spc="-62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2475" dirty="0"/>
          </a:p>
        </p:txBody>
      </p:sp>
      <p:sp>
        <p:nvSpPr>
          <p:cNvPr id="24" name="Text 21"/>
          <p:cNvSpPr/>
          <p:nvPr/>
        </p:nvSpPr>
        <p:spPr>
          <a:xfrm>
            <a:off x="2019300" y="7175302"/>
            <a:ext cx="26384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분산 락 · Insert-Only 원장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90600" y="9317831"/>
            <a:ext cx="18331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타임소프트(주) · 연차 경매 시스템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7137335" y="9310688"/>
            <a:ext cx="23626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800100"/>
            <a:ext cx="28575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0175" y="823913"/>
            <a:ext cx="3317599" cy="285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-47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타임소프트콘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990600" y="1581150"/>
            <a:ext cx="167960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188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이전 발표 요약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990600" y="1905000"/>
            <a:ext cx="16796004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173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지난 발표에서 어디까지 왔나</a:t>
            </a:r>
            <a:endParaRPr lang="en-US" sz="4950" dirty="0"/>
          </a:p>
        </p:txBody>
      </p:sp>
      <p:sp>
        <p:nvSpPr>
          <p:cNvPr id="8" name="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0600" y="3003352"/>
            <a:ext cx="7977188" cy="6307336"/>
          </a:xfrm>
          <a:prstGeom prst="roundRect">
            <a:avLst>
              <a:gd name="adj" fmla="val 3624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6"/>
          <p:cNvSpPr/>
          <p:nvPr/>
        </p:nvSpPr>
        <p:spPr>
          <a:xfrm>
            <a:off x="1409700" y="3403402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1B64D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475" y="3508177"/>
            <a:ext cx="209550" cy="2095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00663" y="3417689"/>
            <a:ext cx="300379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39" dirty="0" err="1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지난</a:t>
            </a:r>
            <a:r>
              <a:rPr lang="en-US" sz="2400" b="1" kern="0" spc="-39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kern="0" spc="-39" dirty="0" err="1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</a:t>
            </a:r>
            <a:r>
              <a:rPr lang="en-US" sz="2400" b="1" kern="0" spc="-39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kern="0" spc="-39" dirty="0" err="1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endParaRPr lang="en-US" sz="2400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639BCBA-2AE1-E4E2-FD9A-0534B1178B93}"/>
              </a:ext>
            </a:extLst>
          </p:cNvPr>
          <p:cNvGrpSpPr/>
          <p:nvPr/>
        </p:nvGrpSpPr>
        <p:grpSpPr>
          <a:xfrm>
            <a:off x="1409700" y="4044999"/>
            <a:ext cx="7446478" cy="850553"/>
            <a:chOff x="1409700" y="4044999"/>
            <a:chExt cx="7446478" cy="850553"/>
          </a:xfrm>
        </p:grpSpPr>
        <p:sp>
          <p:nvSpPr>
            <p:cNvPr id="12" name="Shape 8"/>
            <p:cNvSpPr/>
            <p:nvPr/>
          </p:nvSpPr>
          <p:spPr>
            <a:xfrm>
              <a:off x="1409700" y="4224932"/>
              <a:ext cx="85725" cy="85725"/>
            </a:xfrm>
            <a:prstGeom prst="roundRect">
              <a:avLst>
                <a:gd name="adj" fmla="val 33333"/>
              </a:avLst>
            </a:prstGeom>
            <a:solidFill>
              <a:srgbClr val="1B64DA"/>
            </a:solidFill>
            <a:ln/>
          </p:spPr>
        </p:sp>
        <p:sp>
          <p:nvSpPr>
            <p:cNvPr id="13" name="Text 9"/>
            <p:cNvSpPr/>
            <p:nvPr/>
          </p:nvSpPr>
          <p:spPr>
            <a:xfrm>
              <a:off x="1638299" y="4044999"/>
              <a:ext cx="7217879" cy="8505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b="1" dirty="0" err="1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경매</a:t>
              </a:r>
              <a:r>
                <a:rPr 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· </a:t>
              </a:r>
              <a:r>
                <a:rPr lang="en-US" b="1" dirty="0" err="1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입찰</a:t>
              </a:r>
              <a:r>
                <a:rPr 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기능</a:t>
              </a:r>
              <a:r>
                <a:rPr 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b="1" dirty="0" err="1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완성</a:t>
              </a:r>
              <a:r>
                <a:rPr 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복지 포인트 입찰 → 단일 </a:t>
              </a:r>
              <a:r>
                <a:rPr lang="ko-KR" altLang="en-US" sz="1600" b="1" dirty="0" err="1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트렉잭션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낙찰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·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자동 환불 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 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즉시 연차 부여</a:t>
              </a:r>
              <a:endParaRPr lang="en-US" sz="1600" dirty="0"/>
            </a:p>
          </p:txBody>
        </p:sp>
      </p:grpSp>
      <p:sp>
        <p:nvSpPr>
          <p:cNvPr id="18" name="Shape 14"/>
          <p:cNvSpPr/>
          <p:nvPr/>
        </p:nvSpPr>
        <p:spPr>
          <a:xfrm>
            <a:off x="9291638" y="3003352"/>
            <a:ext cx="8005763" cy="6307336"/>
          </a:xfrm>
          <a:prstGeom prst="roundRect">
            <a:avLst>
              <a:gd name="adj" fmla="val 3624"/>
            </a:avLst>
          </a:prstGeom>
          <a:solidFill>
            <a:srgbClr val="FFFFFF"/>
          </a:solidFill>
          <a:ln w="14288">
            <a:solidFill>
              <a:srgbClr val="DDE6F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725025" y="3417689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08B19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3522464"/>
            <a:ext cx="209550" cy="2095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277475" y="3477220"/>
            <a:ext cx="17083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 · 결정사항</a:t>
            </a:r>
            <a:endParaRPr lang="en-US" sz="1950" dirty="0"/>
          </a:p>
        </p:txBody>
      </p:sp>
      <p:sp>
        <p:nvSpPr>
          <p:cNvPr id="28" name="Text 23"/>
          <p:cNvSpPr/>
          <p:nvPr/>
        </p:nvSpPr>
        <p:spPr>
          <a:xfrm>
            <a:off x="990600" y="9317831"/>
            <a:ext cx="18331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타임소프트(주) · 연차 경매 시스템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7137335" y="9310688"/>
            <a:ext cx="23626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3938EA4-3364-BE52-D1A3-B6EB9FC1361F}"/>
              </a:ext>
            </a:extLst>
          </p:cNvPr>
          <p:cNvGrpSpPr/>
          <p:nvPr/>
        </p:nvGrpSpPr>
        <p:grpSpPr>
          <a:xfrm>
            <a:off x="1400175" y="5086646"/>
            <a:ext cx="7446478" cy="850553"/>
            <a:chOff x="1409700" y="4044999"/>
            <a:chExt cx="7446478" cy="850553"/>
          </a:xfrm>
        </p:grpSpPr>
        <p:sp>
          <p:nvSpPr>
            <p:cNvPr id="42" name="Shape 8">
              <a:extLst>
                <a:ext uri="{FF2B5EF4-FFF2-40B4-BE49-F238E27FC236}">
                  <a16:creationId xmlns:a16="http://schemas.microsoft.com/office/drawing/2014/main" id="{A0B240B0-19B1-F042-7CF0-B5CBC923F071}"/>
                </a:ext>
              </a:extLst>
            </p:cNvPr>
            <p:cNvSpPr/>
            <p:nvPr/>
          </p:nvSpPr>
          <p:spPr>
            <a:xfrm>
              <a:off x="1409700" y="4224932"/>
              <a:ext cx="85725" cy="85725"/>
            </a:xfrm>
            <a:prstGeom prst="roundRect">
              <a:avLst>
                <a:gd name="adj" fmla="val 33333"/>
              </a:avLst>
            </a:prstGeom>
            <a:solidFill>
              <a:srgbClr val="1B64DA"/>
            </a:solidFill>
            <a:ln/>
          </p:spPr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0CB264D-D6FF-01EC-DACD-68C6289C4239}"/>
                </a:ext>
              </a:extLst>
            </p:cNvPr>
            <p:cNvSpPr/>
            <p:nvPr/>
          </p:nvSpPr>
          <p:spPr>
            <a:xfrm>
              <a:off x="1638299" y="4044999"/>
              <a:ext cx="7217879" cy="8505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P2P </a:t>
              </a:r>
              <a:r>
                <a:rPr lang="ko-KR" altLang="en-US" sz="18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 </a:t>
              </a:r>
              <a:r>
                <a:rPr lang="en-US" altLang="ko-KR" sz="18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B2E </a:t>
              </a:r>
              <a:r>
                <a:rPr lang="ko-KR" altLang="en-US" sz="18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설계</a:t>
              </a:r>
              <a:endParaRPr lang="en-US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복지 포인트 입찰 → 단일 </a:t>
              </a:r>
              <a:r>
                <a:rPr lang="ko-KR" altLang="en-US" sz="1600" b="1" dirty="0" err="1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트렉잭션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낙찰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·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자동 환불 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 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즉시 연차 부여</a:t>
              </a:r>
              <a:endParaRPr lang="en-US" sz="1600" dirty="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4AA9FDB-B7E4-1D75-B7C4-B8164768CB8A}"/>
              </a:ext>
            </a:extLst>
          </p:cNvPr>
          <p:cNvGrpSpPr/>
          <p:nvPr/>
        </p:nvGrpSpPr>
        <p:grpSpPr>
          <a:xfrm>
            <a:off x="1400175" y="6119738"/>
            <a:ext cx="7446478" cy="850553"/>
            <a:chOff x="1409700" y="4044999"/>
            <a:chExt cx="7446478" cy="850553"/>
          </a:xfrm>
        </p:grpSpPr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A0A5E2E9-3BDD-AD49-502B-C590CFCBBB10}"/>
                </a:ext>
              </a:extLst>
            </p:cNvPr>
            <p:cNvSpPr/>
            <p:nvPr/>
          </p:nvSpPr>
          <p:spPr>
            <a:xfrm>
              <a:off x="1409700" y="4224932"/>
              <a:ext cx="85725" cy="85725"/>
            </a:xfrm>
            <a:prstGeom prst="roundRect">
              <a:avLst>
                <a:gd name="adj" fmla="val 33333"/>
              </a:avLst>
            </a:prstGeom>
            <a:solidFill>
              <a:srgbClr val="1B64DA"/>
            </a:solidFill>
            <a:ln/>
          </p:spPr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4A685F42-A17C-780B-8868-7EE4E0252D7B}"/>
                </a:ext>
              </a:extLst>
            </p:cNvPr>
            <p:cNvSpPr/>
            <p:nvPr/>
          </p:nvSpPr>
          <p:spPr>
            <a:xfrm>
              <a:off x="1638299" y="4044999"/>
              <a:ext cx="7217879" cy="8505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핵사고날 아키텍처</a:t>
              </a:r>
              <a:endParaRPr lang="en-US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DB · 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화폐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· 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외부 연동이 바뀌어도 </a:t>
              </a:r>
              <a:r>
                <a:rPr lang="ko-KR" altLang="en-US" sz="1600" b="1" dirty="0" err="1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어뎁터만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교체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도메인 코어는 변경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1600" dirty="0"/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DFD06B9B-A4B3-DE1A-5927-BC1C17548385}"/>
              </a:ext>
            </a:extLst>
          </p:cNvPr>
          <p:cNvGrpSpPr/>
          <p:nvPr/>
        </p:nvGrpSpPr>
        <p:grpSpPr>
          <a:xfrm>
            <a:off x="9839325" y="4044999"/>
            <a:ext cx="7446478" cy="850553"/>
            <a:chOff x="1409700" y="4044999"/>
            <a:chExt cx="7446478" cy="850553"/>
          </a:xfrm>
        </p:grpSpPr>
        <p:sp>
          <p:nvSpPr>
            <p:cNvPr id="66" name="Shape 8">
              <a:extLst>
                <a:ext uri="{FF2B5EF4-FFF2-40B4-BE49-F238E27FC236}">
                  <a16:creationId xmlns:a16="http://schemas.microsoft.com/office/drawing/2014/main" id="{22793AD7-FECD-3317-29B5-5FB9A56ACC5E}"/>
                </a:ext>
              </a:extLst>
            </p:cNvPr>
            <p:cNvSpPr/>
            <p:nvPr/>
          </p:nvSpPr>
          <p:spPr>
            <a:xfrm>
              <a:off x="1409700" y="4224932"/>
              <a:ext cx="85725" cy="85725"/>
            </a:xfrm>
            <a:prstGeom prst="roundRect">
              <a:avLst>
                <a:gd name="adj" fmla="val 33333"/>
              </a:avLst>
            </a:prstGeom>
            <a:solidFill>
              <a:schemeClr val="accent2">
                <a:lumMod val="75000"/>
              </a:schemeClr>
            </a:solidFill>
            <a:ln/>
          </p:spPr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72415B5B-14E9-2D7B-BE9C-08847CA78E67}"/>
                </a:ext>
              </a:extLst>
            </p:cNvPr>
            <p:cNvSpPr/>
            <p:nvPr/>
          </p:nvSpPr>
          <p:spPr>
            <a:xfrm>
              <a:off x="1638299" y="4044999"/>
              <a:ext cx="7217879" cy="8505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내부 포인트 제도 </a:t>
              </a:r>
              <a:r>
                <a:rPr lang="en-US" altLang="ko-KR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“</a:t>
              </a:r>
              <a:r>
                <a:rPr lang="ko-KR" alt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콘</a:t>
              </a:r>
              <a:r>
                <a:rPr lang="en-US" altLang="ko-KR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”</a:t>
              </a:r>
              <a:r>
                <a:rPr lang="ko-KR" alt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신설</a:t>
              </a:r>
              <a:endParaRPr lang="en-US" altLang="ko-KR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시스템 내부에서 자체적으로 사용하는 가상통화 추가</a:t>
              </a:r>
              <a:endParaRPr lang="en-US" sz="1600" dirty="0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1F590AD6-F5AE-F386-17D8-13337B58D693}"/>
              </a:ext>
            </a:extLst>
          </p:cNvPr>
          <p:cNvGrpSpPr/>
          <p:nvPr/>
        </p:nvGrpSpPr>
        <p:grpSpPr>
          <a:xfrm>
            <a:off x="9829800" y="5086646"/>
            <a:ext cx="7446478" cy="850553"/>
            <a:chOff x="1409700" y="4044999"/>
            <a:chExt cx="7446478" cy="850553"/>
          </a:xfrm>
        </p:grpSpPr>
        <p:sp>
          <p:nvSpPr>
            <p:cNvPr id="69" name="Shape 8">
              <a:extLst>
                <a:ext uri="{FF2B5EF4-FFF2-40B4-BE49-F238E27FC236}">
                  <a16:creationId xmlns:a16="http://schemas.microsoft.com/office/drawing/2014/main" id="{8A2E153D-54E6-CF31-BCBE-90CBDD6CB50E}"/>
                </a:ext>
              </a:extLst>
            </p:cNvPr>
            <p:cNvSpPr/>
            <p:nvPr/>
          </p:nvSpPr>
          <p:spPr>
            <a:xfrm>
              <a:off x="1409700" y="4224932"/>
              <a:ext cx="85725" cy="85725"/>
            </a:xfrm>
            <a:prstGeom prst="roundRect">
              <a:avLst>
                <a:gd name="adj" fmla="val 33333"/>
              </a:avLst>
            </a:prstGeom>
            <a:solidFill>
              <a:schemeClr val="accent2">
                <a:lumMod val="75000"/>
              </a:schemeClr>
            </a:solidFill>
            <a:ln/>
          </p:spPr>
        </p:sp>
        <p:sp>
          <p:nvSpPr>
            <p:cNvPr id="70" name="Text 9">
              <a:extLst>
                <a:ext uri="{FF2B5EF4-FFF2-40B4-BE49-F238E27FC236}">
                  <a16:creationId xmlns:a16="http://schemas.microsoft.com/office/drawing/2014/main" id="{BB47652A-54A3-B816-B251-68C460D31D9F}"/>
                </a:ext>
              </a:extLst>
            </p:cNvPr>
            <p:cNvSpPr/>
            <p:nvPr/>
          </p:nvSpPr>
          <p:spPr>
            <a:xfrm>
              <a:off x="1638299" y="4044999"/>
              <a:ext cx="7217879" cy="8505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콘 </a:t>
              </a:r>
              <a:r>
                <a:rPr lang="ko-KR" altLang="en-US" b="1" dirty="0" err="1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소비처</a:t>
              </a:r>
              <a:r>
                <a:rPr lang="ko-KR" alt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“</a:t>
              </a:r>
              <a:r>
                <a:rPr lang="ko-KR" altLang="en-US" b="1" dirty="0" err="1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스쿱</a:t>
              </a:r>
              <a:r>
                <a:rPr lang="ko-KR" alt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마켓</a:t>
              </a:r>
              <a:r>
                <a:rPr lang="en-US" altLang="ko-KR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” </a:t>
              </a:r>
              <a:r>
                <a:rPr lang="ko-KR" alt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추가</a:t>
              </a:r>
              <a:endParaRPr lang="en-US" altLang="ko-KR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콘 → 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</a:t>
              </a:r>
              <a:r>
                <a:rPr lang="ko-KR" altLang="en-US" sz="1600" b="1" dirty="0" err="1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구독권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· 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식권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· 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카페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· </a:t>
              </a:r>
              <a:r>
                <a:rPr lang="ko-KR" altLang="en-US" sz="1600" b="1" dirty="0" err="1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기프티콘등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자체 포인트 </a:t>
              </a:r>
              <a:r>
                <a:rPr lang="ko-KR" altLang="en-US" sz="1600" b="1" dirty="0" err="1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소모처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추가</a:t>
              </a:r>
              <a:endParaRPr lang="en-US" sz="1600" dirty="0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B802A08-9816-2A9C-1A55-3399F2476486}"/>
              </a:ext>
            </a:extLst>
          </p:cNvPr>
          <p:cNvGrpSpPr/>
          <p:nvPr/>
        </p:nvGrpSpPr>
        <p:grpSpPr>
          <a:xfrm>
            <a:off x="9829800" y="6119738"/>
            <a:ext cx="7446478" cy="850553"/>
            <a:chOff x="1409700" y="4044999"/>
            <a:chExt cx="7446478" cy="850553"/>
          </a:xfrm>
        </p:grpSpPr>
        <p:sp>
          <p:nvSpPr>
            <p:cNvPr id="72" name="Shape 8">
              <a:extLst>
                <a:ext uri="{FF2B5EF4-FFF2-40B4-BE49-F238E27FC236}">
                  <a16:creationId xmlns:a16="http://schemas.microsoft.com/office/drawing/2014/main" id="{C247C986-6B5E-980C-446F-4F1D228BBD99}"/>
                </a:ext>
              </a:extLst>
            </p:cNvPr>
            <p:cNvSpPr/>
            <p:nvPr/>
          </p:nvSpPr>
          <p:spPr>
            <a:xfrm>
              <a:off x="1409700" y="4224932"/>
              <a:ext cx="85725" cy="85725"/>
            </a:xfrm>
            <a:prstGeom prst="roundRect">
              <a:avLst>
                <a:gd name="adj" fmla="val 33333"/>
              </a:avLst>
            </a:prstGeom>
            <a:solidFill>
              <a:schemeClr val="accent2">
                <a:lumMod val="75000"/>
              </a:schemeClr>
            </a:solidFill>
            <a:ln/>
          </p:spPr>
        </p:sp>
        <p:sp>
          <p:nvSpPr>
            <p:cNvPr id="73" name="Text 9">
              <a:extLst>
                <a:ext uri="{FF2B5EF4-FFF2-40B4-BE49-F238E27FC236}">
                  <a16:creationId xmlns:a16="http://schemas.microsoft.com/office/drawing/2014/main" id="{20350668-C519-CFF9-BE00-CEF00E658F1C}"/>
                </a:ext>
              </a:extLst>
            </p:cNvPr>
            <p:cNvSpPr/>
            <p:nvPr/>
          </p:nvSpPr>
          <p:spPr>
            <a:xfrm>
              <a:off x="1638299" y="4044999"/>
              <a:ext cx="7217879" cy="8505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도입 진입장벽 최소화 </a:t>
              </a:r>
              <a:endParaRPr lang="en-US" altLang="ko-KR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“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콘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”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과 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＂</a:t>
              </a:r>
              <a:r>
                <a:rPr lang="ko-KR" altLang="en-US" sz="1600" b="1" dirty="0" err="1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스쿱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마켓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”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을 통해 사내 인프라의 의존을 최소화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800100"/>
            <a:ext cx="28575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0175" y="823913"/>
            <a:ext cx="2562225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-47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타임소프트콘</a:t>
            </a:r>
            <a:endParaRPr lang="en-US" sz="1575" dirty="0"/>
          </a:p>
        </p:txBody>
      </p:sp>
      <p:sp>
        <p:nvSpPr>
          <p:cNvPr id="5" name="Text 2"/>
          <p:cNvSpPr/>
          <p:nvPr/>
        </p:nvSpPr>
        <p:spPr>
          <a:xfrm>
            <a:off x="16195551" y="857250"/>
            <a:ext cx="117804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125" b="1" kern="0" spc="150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캡션 있는 콘텐츠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990600" y="1581150"/>
            <a:ext cx="167960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188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· 시연 5막 미리보기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990600" y="1905000"/>
            <a:ext cx="16796004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173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시연 22분, 한 장에</a:t>
            </a:r>
            <a:endParaRPr lang="en-US" sz="4950" dirty="0"/>
          </a:p>
        </p:txBody>
      </p:sp>
      <p:sp>
        <p:nvSpPr>
          <p:cNvPr id="8" name="Text 5"/>
          <p:cNvSpPr/>
          <p:nvPr/>
        </p:nvSpPr>
        <p:spPr>
          <a:xfrm>
            <a:off x="990600" y="2965252"/>
            <a:ext cx="58864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kern="0" spc="-45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→ 관리자 → 연말 → 회사 격리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990600" y="3474839"/>
            <a:ext cx="58864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3B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액트별 시간·핵심 포인트를 한눈에. 본 발표 끝에 브라우저로 전체 시연.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990600" y="9317831"/>
            <a:ext cx="18331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타임소프트(주) · 연차 경매 시스템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7137335" y="9310688"/>
            <a:ext cx="23626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grpSp>
        <p:nvGrpSpPr>
          <p:cNvPr id="1000" name="Card 01"/>
          <p:cNvGrpSpPr/>
          <p:nvPr/>
        </p:nvGrpSpPr>
        <p:grpSpPr>
          <a:xfrm>
            <a:off x="990600" y="4400550"/>
            <a:ext cx="5268933" cy="2350000"/>
            <a:chOff x="990600" y="4400550"/>
            <a:chExt cx="5268933" cy="2350000"/>
          </a:xfrm>
        </p:grpSpPr>
        <!-- 카드 배경 -->
        <p:sp>
          <p:nvSpPr>
            <p:cNvPr id="1001" name="CardBg 01"/>
            <p:cNvSpPr/>
            <p:nvPr/>
          </p:nvSpPr>
          <p:spPr>
            <a:xfrm>
              <a:off x="990600" y="4400550"/>
              <a:ext cx="5268933" cy="2350000"/>
            </a:xfrm>
            <a:prstGeom prst="roundRect">
              <a:avLst>
                <a:gd name="adj" fmla="val 8000"/>
              </a:avLst>
            </a:prstGeom>
            <a:solidFill>
              <a:srgbClr val="F8F9FC"/>
            </a:solidFill>
            <a:ln w="12700">
              <a:solidFill>
                <a:srgbClr val="DDE2EE"/>
              </a:solidFill>
            </a:ln>
          </p:spPr>
        </p:sp>
        <!-- 번호 동그라미 배경 -->
        <p:sp>
          <p:nvSpPr>
            <p:cNvPr id="1002" name="Num bg 01"/>
            <p:cNvSpPr/>
            <p:nvPr/>
          </p:nvSpPr>
          <p:spPr>
            <a:xfrm>
              <a:off x="1190600" y="4600550"/>
              <a:ext cx="285750" cy="285750"/>
            </a:xfrm>
            <a:prstGeom prst="roundRect">
              <a:avLst>
                <a:gd name="adj" fmla="val 26667"/>
              </a:avLst>
            </a:prstGeom>
            <a:solidFill>
              <a:srgbClr val="EEF4FF"/>
            </a:solidFill>
            <a:ln/>
          </p:spPr>
        </p:sp>
        <!-- 번호 글자 -->
        <p:sp>
          <p:nvSpPr>
            <p:cNvPr id="1003" name="Num 01"/>
            <p:cNvSpPr/>
            <p:nvPr/>
          </p:nvSpPr>
          <p:spPr>
            <a:xfrm>
              <a:off x="1152500" y="4600550"/>
              <a:ext cx="361950" cy="3238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1B64DA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!-- 타이틀 (액트 N · 시간) -->
        <p:sp>
          <p:nvSpPr>
            <p:cNvPr id="1004" name="Title 01"/>
            <p:cNvSpPr/>
            <p:nvPr/>
          </p:nvSpPr>
          <p:spPr>
            <a:xfrm>
              <a:off x="1540600" y="4570550"/>
              <a:ext cx="4668933" cy="3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400" b="1" dirty="0">
                  <a:solidFill>
                    <a:srgbClr val="1F3A93"/>
                  </a:solidFill>
                  <a:latin typeface="Malgun Gothic"/>
                  <a:ea typeface="Malgun Gothic"/>
                  <a:cs typeface="Malgun Gothic"/>
                </a:rPr>
                <a:t>액트 1 · 5분</a:t>
              </a:r>
            </a:p>
          </p:txBody>
        </p:sp>
        <!-- 서브 (한 줄) -->
        <p:sp>
          <p:nvSpPr>
            <p:cNvPr id="1005" name="Sub 01"/>
            <p:cNvSpPr/>
            <p:nvPr/>
          </p:nvSpPr>
          <p:spPr>
            <a:xfrm>
              <a:off x="1190600" y="5100550"/>
              <a:ext cx="4868933" cy="5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200" b="1" dirty="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</a:rPr>
                <a:t>사용자가 1일권을 산다</a:t>
              </a:r>
            </a:p>
          </p:txBody>
        </p:sp>
        <!-- 설명 (한 줄) -->
        <p:sp>
          <p:nvSpPr>
            <p:cNvPr id="1006" name="Desc 01"/>
            <p:cNvSpPr/>
            <p:nvPr/>
          </p:nvSpPr>
          <p:spPr>
            <a:xfrm>
              <a:off x="1190600" y="5680550"/>
              <a:ext cx="4868933" cy="97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000" dirty="0">
                  <a:solidFill>
                    <a:srgbClr val="555555"/>
                  </a:solidFill>
                  <a:latin typeface="Malgun Gothic"/>
                  <a:ea typeface="Malgun Gothic"/>
                  <a:cs typeface="Malgun Gothic"/>
                </a:rPr>
                <a:t>OUTBID 자동환불 · AUCTION 1일 즉시 부여</a:t>
              </a:r>
            </a:p>
          </p:txBody>
        </p:sp>
      </p:grpSp>
      <p:grpSp>
        <p:nvGrpSpPr>
          <p:cNvPr id="1010" name="Card 02"/>
          <p:cNvGrpSpPr/>
          <p:nvPr/>
        </p:nvGrpSpPr>
        <p:grpSpPr>
          <a:xfrm>
            <a:off x="6509533" y="4400550"/>
            <a:ext cx="5268933" cy="2350000"/>
            <a:chOff x="6509533" y="4400550"/>
            <a:chExt cx="5268933" cy="2350000"/>
          </a:xfrm>
        </p:grpSpPr>
        <!-- 카드 배경 -->
        <p:sp>
          <p:nvSpPr>
            <p:cNvPr id="1011" name="CardBg 02"/>
            <p:cNvSpPr/>
            <p:nvPr/>
          </p:nvSpPr>
          <p:spPr>
            <a:xfrm>
              <a:off x="6509533" y="4400550"/>
              <a:ext cx="5268933" cy="2350000"/>
            </a:xfrm>
            <a:prstGeom prst="roundRect">
              <a:avLst>
                <a:gd name="adj" fmla="val 8000"/>
              </a:avLst>
            </a:prstGeom>
            <a:solidFill>
              <a:srgbClr val="F8F9FC"/>
            </a:solidFill>
            <a:ln w="12700">
              <a:solidFill>
                <a:srgbClr val="DDE2EE"/>
              </a:solidFill>
            </a:ln>
          </p:spPr>
        </p:sp>
        <!-- 번호 동그라미 배경 -->
        <p:sp>
          <p:nvSpPr>
            <p:cNvPr id="1012" name="Num bg 02"/>
            <p:cNvSpPr/>
            <p:nvPr/>
          </p:nvSpPr>
          <p:spPr>
            <a:xfrm>
              <a:off x="6709533" y="4600550"/>
              <a:ext cx="285750" cy="285750"/>
            </a:xfrm>
            <a:prstGeom prst="roundRect">
              <a:avLst>
                <a:gd name="adj" fmla="val 26667"/>
              </a:avLst>
            </a:prstGeom>
            <a:solidFill>
              <a:srgbClr val="EEF4FF"/>
            </a:solidFill>
            <a:ln/>
          </p:spPr>
        </p:sp>
        <!-- 번호 글자 -->
        <p:sp>
          <p:nvSpPr>
            <p:cNvPr id="1013" name="Num 02"/>
            <p:cNvSpPr/>
            <p:nvPr/>
          </p:nvSpPr>
          <p:spPr>
            <a:xfrm>
              <a:off x="6671433" y="4600550"/>
              <a:ext cx="361950" cy="3238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1B64DA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!-- 타이틀 (액트 N · 시간) -->
        <p:sp>
          <p:nvSpPr>
            <p:cNvPr id="1014" name="Title 02"/>
            <p:cNvSpPr/>
            <p:nvPr/>
          </p:nvSpPr>
          <p:spPr>
            <a:xfrm>
              <a:off x="7059533" y="4570550"/>
              <a:ext cx="4668933" cy="3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400" b="1" dirty="0">
                  <a:solidFill>
                    <a:srgbClr val="1F3A93"/>
                  </a:solidFill>
                  <a:latin typeface="Malgun Gothic"/>
                  <a:ea typeface="Malgun Gothic"/>
                  <a:cs typeface="Malgun Gothic"/>
                </a:rPr>
                <a:t>액트 2 · 3분</a:t>
              </a:r>
            </a:p>
          </p:txBody>
        </p:sp>
        <!-- 서브 (한 줄) -->
        <p:sp>
          <p:nvSpPr>
            <p:cNvPr id="1015" name="Sub 02"/>
            <p:cNvSpPr/>
            <p:nvPr/>
          </p:nvSpPr>
          <p:spPr>
            <a:xfrm>
              <a:off x="6709533" y="5100550"/>
              <a:ext cx="4868933" cy="5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200" b="1" dirty="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</a:rPr>
                <a:t>스토어 → 수령대기 → 보관함</a:t>
              </a:r>
            </a:p>
          </p:txBody>
        </p:sp>
        <!-- 설명 (한 줄) -->
        <p:sp>
          <p:nvSpPr>
            <p:cNvPr id="1016" name="Desc 02"/>
            <p:cNvSpPr/>
            <p:nvPr/>
          </p:nvSpPr>
          <p:spPr>
            <a:xfrm>
              <a:off x="6709533" y="5680550"/>
              <a:ext cx="4868933" cy="97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000" dirty="0">
                  <a:solidFill>
                    <a:srgbClr val="555555"/>
                  </a:solidFill>
                  <a:latin typeface="Malgun Gothic"/>
                  <a:ea typeface="Malgun Gothic"/>
                  <a:cs typeface="Malgun Gothic"/>
                </a:rPr>
                <a:t>우상단 수령대기 패널 + 보관함 영구 보존</a:t>
              </a:r>
            </a:p>
          </p:txBody>
        </p:sp>
      </p:grpSp>
      <p:grpSp>
        <p:nvGrpSpPr>
          <p:cNvPr id="1020" name="Card 03"/>
          <p:cNvGrpSpPr/>
          <p:nvPr/>
        </p:nvGrpSpPr>
        <p:grpSpPr>
          <a:xfrm>
            <a:off x="12028466" y="4400550"/>
            <a:ext cx="5268933" cy="2350000"/>
            <a:chOff x="12028466" y="4400550"/>
            <a:chExt cx="5268933" cy="2350000"/>
          </a:xfrm>
        </p:grpSpPr>
        <!-- 카드 배경 -->
        <p:sp>
          <p:nvSpPr>
            <p:cNvPr id="1021" name="CardBg 03"/>
            <p:cNvSpPr/>
            <p:nvPr/>
          </p:nvSpPr>
          <p:spPr>
            <a:xfrm>
              <a:off x="12028466" y="4400550"/>
              <a:ext cx="5268933" cy="2350000"/>
            </a:xfrm>
            <a:prstGeom prst="roundRect">
              <a:avLst>
                <a:gd name="adj" fmla="val 8000"/>
              </a:avLst>
            </a:prstGeom>
            <a:solidFill>
              <a:srgbClr val="F8F9FC"/>
            </a:solidFill>
            <a:ln w="12700">
              <a:solidFill>
                <a:srgbClr val="DDE2EE"/>
              </a:solidFill>
            </a:ln>
          </p:spPr>
        </p:sp>
        <!-- 번호 동그라미 배경 -->
        <p:sp>
          <p:nvSpPr>
            <p:cNvPr id="1022" name="Num bg 03"/>
            <p:cNvSpPr/>
            <p:nvPr/>
          </p:nvSpPr>
          <p:spPr>
            <a:xfrm>
              <a:off x="12228466" y="4600550"/>
              <a:ext cx="285750" cy="285750"/>
            </a:xfrm>
            <a:prstGeom prst="roundRect">
              <a:avLst>
                <a:gd name="adj" fmla="val 26667"/>
              </a:avLst>
            </a:prstGeom>
            <a:solidFill>
              <a:srgbClr val="EEF4FF"/>
            </a:solidFill>
            <a:ln/>
          </p:spPr>
        </p:sp>
        <!-- 번호 글자 -->
        <p:sp>
          <p:nvSpPr>
            <p:cNvPr id="1023" name="Num 03"/>
            <p:cNvSpPr/>
            <p:nvPr/>
          </p:nvSpPr>
          <p:spPr>
            <a:xfrm>
              <a:off x="12190366" y="4600550"/>
              <a:ext cx="361950" cy="3238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1B64DA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!-- 타이틀 (액트 N · 시간) -->
        <p:sp>
          <p:nvSpPr>
            <p:cNvPr id="1024" name="Title 03"/>
            <p:cNvSpPr/>
            <p:nvPr/>
          </p:nvSpPr>
          <p:spPr>
            <a:xfrm>
              <a:off x="12578466" y="4570550"/>
              <a:ext cx="4668933" cy="3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400" b="1" dirty="0">
                  <a:solidFill>
                    <a:srgbClr val="1F3A93"/>
                  </a:solidFill>
                  <a:latin typeface="Malgun Gothic"/>
                  <a:ea typeface="Malgun Gothic"/>
                  <a:cs typeface="Malgun Gothic"/>
                </a:rPr>
                <a:t>액트 3 · 6분</a:t>
              </a:r>
            </a:p>
          </p:txBody>
        </p:sp>
        <!-- 서브 (한 줄) -->
        <p:sp>
          <p:nvSpPr>
            <p:cNvPr id="1025" name="Sub 03"/>
            <p:cNvSpPr/>
            <p:nvPr/>
          </p:nvSpPr>
          <p:spPr>
            <a:xfrm>
              <a:off x="12228466" y="5100550"/>
              <a:ext cx="4868933" cy="5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200" b="1" dirty="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</a:rPr>
                <a:t>관리자 운영 5단계</a:t>
              </a:r>
            </a:p>
          </p:txBody>
        </p:sp>
        <!-- 설명 (한 줄) -->
        <p:sp>
          <p:nvSpPr>
            <p:cNvPr id="1026" name="Desc 03"/>
            <p:cNvSpPr/>
            <p:nvPr/>
          </p:nvSpPr>
          <p:spPr>
            <a:xfrm>
              <a:off x="12228466" y="5680550"/>
              <a:ext cx="4868933" cy="97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000" dirty="0">
                  <a:solidFill>
                    <a:srgbClr val="555555"/>
                  </a:solidFill>
                  <a:latin typeface="Malgun Gothic"/>
                  <a:ea typeface="Malgun Gothic"/>
                  <a:cs typeface="Malgun Gothic"/>
                </a:rPr>
                <a:t>KPI · 유찰 EVENT/REOPEN · 스토어 NEW · 회원관리</a:t>
              </a:r>
            </a:p>
          </p:txBody>
        </p:sp>
      </p:grpSp>
      <p:grpSp>
        <p:nvGrpSpPr>
          <p:cNvPr id="1030" name="Card 04"/>
          <p:cNvGrpSpPr/>
          <p:nvPr/>
        </p:nvGrpSpPr>
        <p:grpSpPr>
          <a:xfrm>
            <a:off x="990600" y="7000550"/>
            <a:ext cx="10787866" cy="2350000"/>
            <a:chOff x="990600" y="7000550"/>
            <a:chExt cx="10787866" cy="2350000"/>
          </a:xfrm>
        </p:grpSpPr>
        <!-- 카드 배경 -->
        <p:sp>
          <p:nvSpPr>
            <p:cNvPr id="1031" name="CardBg 04"/>
            <p:cNvSpPr/>
            <p:nvPr/>
          </p:nvSpPr>
          <p:spPr>
            <a:xfrm>
              <a:off x="990600" y="7000550"/>
              <a:ext cx="10787866" cy="2350000"/>
            </a:xfrm>
            <a:prstGeom prst="roundRect">
              <a:avLst>
                <a:gd name="adj" fmla="val 8000"/>
              </a:avLst>
            </a:prstGeom>
            <a:solidFill>
              <a:srgbClr val="FFF7EE"/>
            </a:solidFill>
            <a:ln w="25400">
              <a:solidFill>
                <a:srgbClr val="A04500"/>
              </a:solidFill>
            </a:ln>
          </p:spPr>
        </p:sp>
        <!-- 번호 동그라미 배경 -->
        <p:sp>
          <p:nvSpPr>
            <p:cNvPr id="1032" name="Num bg 04"/>
            <p:cNvSpPr/>
            <p:nvPr/>
          </p:nvSpPr>
          <p:spPr>
            <a:xfrm>
              <a:off x="1190600" y="7200550"/>
              <a:ext cx="285750" cy="285750"/>
            </a:xfrm>
            <a:prstGeom prst="roundRect">
              <a:avLst>
                <a:gd name="adj" fmla="val 26667"/>
              </a:avLst>
            </a:prstGeom>
            <a:solidFill>
              <a:srgbClr val="FFE4C9"/>
            </a:solidFill>
            <a:ln/>
          </p:spPr>
        </p:sp>
        <!-- 번호 글자 -->
        <p:sp>
          <p:nvSpPr>
            <p:cNvPr id="1033" name="Num 04"/>
            <p:cNvSpPr/>
            <p:nvPr/>
          </p:nvSpPr>
          <p:spPr>
            <a:xfrm>
              <a:off x="1152500" y="7200550"/>
              <a:ext cx="361950" cy="3238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A04500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!-- 타이틀 (액트 N · 시간) -->
        <p:sp>
          <p:nvSpPr>
            <p:cNvPr id="1034" name="Title 04"/>
            <p:cNvSpPr/>
            <p:nvPr/>
          </p:nvSpPr>
          <p:spPr>
            <a:xfrm>
              <a:off x="1540600" y="7170550"/>
              <a:ext cx="10187866" cy="3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400" b="1" dirty="0">
                  <a:solidFill>
                    <a:srgbClr val="1F3A93"/>
                  </a:solidFill>
                  <a:latin typeface="Malgun Gothic"/>
                  <a:ea typeface="Malgun Gothic"/>
                  <a:cs typeface="Malgun Gothic"/>
                </a:rPr>
                <a:t>액트 4 · 5분 · 핵심</a:t>
              </a:r>
            </a:p>
          </p:txBody>
        </p:sp>
        <!-- 서브 (한 줄) -->
        <p:sp>
          <p:nvSpPr>
            <p:cNvPr id="1035" name="Sub 04"/>
            <p:cNvSpPr/>
            <p:nvPr/>
          </p:nvSpPr>
          <p:spPr>
            <a:xfrm>
              <a:off x="1190600" y="7700550"/>
              <a:ext cx="10387866" cy="5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200" b="1" dirty="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</a:rPr>
                <a:t>12/31의 마법</a:t>
              </a:r>
            </a:p>
          </p:txBody>
        </p:sp>
        <!-- 설명 (한 줄) -->
        <p:sp>
          <p:nvSpPr>
            <p:cNvPr id="1036" name="Desc 04"/>
            <p:cNvSpPr/>
            <p:nvPr/>
          </p:nvSpPr>
          <p:spPr>
            <a:xfrm>
              <a:off x="1190600" y="8280550"/>
              <a:ext cx="10387866" cy="97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000" dirty="0">
                  <a:solidFill>
                    <a:srgbClr val="555555"/>
                  </a:solidFill>
                  <a:latin typeface="Malgun Gothic"/>
                  <a:ea typeface="Malgun Gothic"/>
                  <a:cs typeface="Malgun Gothic"/>
                </a:rPr>
                <a:t>풀 수집 + 배당 → 에스크로 0 / Σ(BID+WIN) − Σ(REFUND+DIV) = 0</a:t>
              </a:r>
            </a:p>
          </p:txBody>
        </p:sp>
      </p:grpSp>
      <p:grpSp>
        <p:nvGrpSpPr>
          <p:cNvPr id="1040" name="Card 05"/>
          <p:cNvGrpSpPr/>
          <p:nvPr/>
        </p:nvGrpSpPr>
        <p:grpSpPr>
          <a:xfrm>
            <a:off x="12028466" y="7000550"/>
            <a:ext cx="5268933" cy="2350000"/>
            <a:chOff x="12028466" y="7000550"/>
            <a:chExt cx="5268933" cy="2350000"/>
          </a:xfrm>
        </p:grpSpPr>
        <!-- 카드 배경 -->
        <p:sp>
          <p:nvSpPr>
            <p:cNvPr id="1041" name="CardBg 05"/>
            <p:cNvSpPr/>
            <p:nvPr/>
          </p:nvSpPr>
          <p:spPr>
            <a:xfrm>
              <a:off x="12028466" y="7000550"/>
              <a:ext cx="5268933" cy="2350000"/>
            </a:xfrm>
            <a:prstGeom prst="roundRect">
              <a:avLst>
                <a:gd name="adj" fmla="val 8000"/>
              </a:avLst>
            </a:prstGeom>
            <a:solidFill>
              <a:srgbClr val="F8F9FC"/>
            </a:solidFill>
            <a:ln w="12700">
              <a:solidFill>
                <a:srgbClr val="DDE2EE"/>
              </a:solidFill>
            </a:ln>
          </p:spPr>
        </p:sp>
        <!-- 번호 동그라미 배경 -->
        <p:sp>
          <p:nvSpPr>
            <p:cNvPr id="1042" name="Num bg 05"/>
            <p:cNvSpPr/>
            <p:nvPr/>
          </p:nvSpPr>
          <p:spPr>
            <a:xfrm>
              <a:off x="12228466" y="7200550"/>
              <a:ext cx="285750" cy="285750"/>
            </a:xfrm>
            <a:prstGeom prst="roundRect">
              <a:avLst>
                <a:gd name="adj" fmla="val 26667"/>
              </a:avLst>
            </a:prstGeom>
            <a:solidFill>
              <a:srgbClr val="EEF4FF"/>
            </a:solidFill>
            <a:ln/>
          </p:spPr>
        </p:sp>
        <!-- 번호 글자 -->
        <p:sp>
          <p:nvSpPr>
            <p:cNvPr id="1043" name="Num 05"/>
            <p:cNvSpPr/>
            <p:nvPr/>
          </p:nvSpPr>
          <p:spPr>
            <a:xfrm>
              <a:off x="12190366" y="7200550"/>
              <a:ext cx="361950" cy="3238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1B64DA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!-- 타이틀 (액트 N · 시간) -->
        <p:sp>
          <p:nvSpPr>
            <p:cNvPr id="1044" name="Title 05"/>
            <p:cNvSpPr/>
            <p:nvPr/>
          </p:nvSpPr>
          <p:spPr>
            <a:xfrm>
              <a:off x="12578466" y="7170550"/>
              <a:ext cx="4668933" cy="3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400" b="1" dirty="0">
                  <a:solidFill>
                    <a:srgbClr val="1F3A93"/>
                  </a:solidFill>
                  <a:latin typeface="Malgun Gothic"/>
                  <a:ea typeface="Malgun Gothic"/>
                  <a:cs typeface="Malgun Gothic"/>
                </a:rPr>
                <a:t>액트 5 · 3분</a:t>
              </a:r>
            </a:p>
          </p:txBody>
        </p:sp>
        <!-- 서브 (한 줄) -->
        <p:sp>
          <p:nvSpPr>
            <p:cNvPr id="1045" name="Sub 05"/>
            <p:cNvSpPr/>
            <p:nvPr/>
          </p:nvSpPr>
          <p:spPr>
            <a:xfrm>
              <a:off x="12228466" y="7700550"/>
              <a:ext cx="4868933" cy="5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200" b="1" dirty="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</a:rPr>
                <a:t>회사별 완전 독립</a:t>
              </a:r>
            </a:p>
          </p:txBody>
        </p:sp>
        <!-- 설명 (한 줄) -->
        <p:sp>
          <p:nvSpPr>
            <p:cNvPr id="1046" name="Desc 05"/>
            <p:cNvSpPr/>
            <p:nvPr/>
          </p:nvSpPr>
          <p:spPr>
            <a:xfrm>
              <a:off x="12228466" y="8280550"/>
              <a:ext cx="4868933" cy="97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l">
                <a:buNone/>
              </a:pPr>
              <a:r>
                <a:rPr lang="ko-KR" sz="1000" dirty="0">
                  <a:solidFill>
                    <a:srgbClr val="555555"/>
                  </a:solidFill>
                  <a:latin typeface="Malgun Gothic"/>
                  <a:ea typeface="Malgun Gothic"/>
                  <a:cs typeface="Malgun Gothic"/>
                </a:rPr>
                <a:t>JWT companyId 자동 스코프 / EZPASS·EXAM 격리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800100"/>
            <a:ext cx="28575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0175" y="823913"/>
            <a:ext cx="2707999" cy="311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-47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타임소프트콘</a:t>
            </a:r>
            <a:endParaRPr lang="en-US" sz="1575" dirty="0"/>
          </a:p>
        </p:txBody>
      </p:sp>
      <p:sp>
        <p:nvSpPr>
          <p:cNvPr id="5" name="Text 2"/>
          <p:cNvSpPr/>
          <p:nvPr/>
        </p:nvSpPr>
        <p:spPr>
          <a:xfrm>
            <a:off x="16000958" y="857250"/>
            <a:ext cx="13726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125" b="1" kern="0" spc="150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 및 세로 텍스트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990600" y="1581150"/>
            <a:ext cx="167960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188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· 전체 플로우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990600" y="1905000"/>
            <a:ext cx="16796004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173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기여에서 배당까지</a:t>
            </a:r>
            <a:endParaRPr lang="en-US" sz="4950" dirty="0"/>
          </a:p>
        </p:txBody>
      </p:sp>
      <p:sp>
        <p:nvSpPr>
          <p:cNvPr id="8" name="Text 5"/>
          <p:cNvSpPr/>
          <p:nvPr/>
        </p:nvSpPr>
        <p:spPr>
          <a:xfrm>
            <a:off x="990600" y="2927152"/>
            <a:ext cx="1190625" cy="6421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50" b="1" kern="0" spc="-390" dirty="0">
                <a:solidFill>
                  <a:srgbClr val="EE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9750" dirty="0"/>
          </a:p>
        </p:txBody>
      </p:sp>
      <p:sp>
        <p:nvSpPr>
          <p:cNvPr id="9" name="Shape 6"/>
          <p:cNvSpPr/>
          <p:nvPr/>
        </p:nvSpPr>
        <p:spPr>
          <a:xfrm>
            <a:off x="2524125" y="3680520"/>
            <a:ext cx="14773275" cy="1090613"/>
          </a:xfrm>
          <a:prstGeom prst="roundRect">
            <a:avLst>
              <a:gd name="adj" fmla="val 17467"/>
            </a:avLst>
          </a:prstGeom>
          <a:solidFill>
            <a:srgbClr val="FFFFFF"/>
          </a:solidFill>
          <a:ln w="14288">
            <a:solidFill>
              <a:srgbClr val="DDE6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62263" y="4037707"/>
            <a:ext cx="6286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6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3681413" y="3942457"/>
            <a:ext cx="131326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kern="0" spc="-4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 (Contribute)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3681413" y="4294882"/>
            <a:ext cx="1313268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소멸 예정 연차를 공용 풀에 등록하고 기여 지분을 적립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6698292" y="4056757"/>
            <a:ext cx="33717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CF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2524125" y="4942582"/>
            <a:ext cx="14773275" cy="1090613"/>
          </a:xfrm>
          <a:prstGeom prst="roundRect">
            <a:avLst>
              <a:gd name="adj" fmla="val 17467"/>
            </a:avLst>
          </a:prstGeom>
          <a:solidFill>
            <a:srgbClr val="FFFFFF"/>
          </a:solidFill>
          <a:ln w="14288">
            <a:solidFill>
              <a:srgbClr val="DDE6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62263" y="5299770"/>
            <a:ext cx="6286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6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3681413" y="5204520"/>
            <a:ext cx="131326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kern="0" spc="-4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입찰 (Bid)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3681413" y="5556945"/>
            <a:ext cx="1313268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연차를 복지 포인트로 입찰, 에스크로에 안전 보관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16698292" y="5318820"/>
            <a:ext cx="33717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CF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2524125" y="6204645"/>
            <a:ext cx="14773275" cy="1090613"/>
          </a:xfrm>
          <a:prstGeom prst="roundRect">
            <a:avLst>
              <a:gd name="adj" fmla="val 17467"/>
            </a:avLst>
          </a:prstGeom>
          <a:solidFill>
            <a:srgbClr val="FFFFFF"/>
          </a:solidFill>
          <a:ln w="14288">
            <a:solidFill>
              <a:srgbClr val="DDE6F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62263" y="6561832"/>
            <a:ext cx="6286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6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3681413" y="6466582"/>
            <a:ext cx="131326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kern="0" spc="-4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낙찰 (Settle)</a:t>
            </a:r>
            <a:endParaRPr lang="en-US" sz="2025" dirty="0"/>
          </a:p>
        </p:txBody>
      </p:sp>
      <p:sp>
        <p:nvSpPr>
          <p:cNvPr id="22" name="Text 19"/>
          <p:cNvSpPr/>
          <p:nvPr/>
        </p:nvSpPr>
        <p:spPr>
          <a:xfrm>
            <a:off x="3681413" y="6819007"/>
            <a:ext cx="1313268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마감 시 최고가 자동 낙찰, 원장에 Insert-Only로 기록</a:t>
            </a:r>
            <a:endParaRPr lang="en-US" sz="1425" dirty="0"/>
          </a:p>
        </p:txBody>
      </p:sp>
      <p:sp>
        <p:nvSpPr>
          <p:cNvPr id="23" name="Text 20"/>
          <p:cNvSpPr/>
          <p:nvPr/>
        </p:nvSpPr>
        <p:spPr>
          <a:xfrm>
            <a:off x="16698292" y="6580882"/>
            <a:ext cx="33717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CF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24" name="Shape 21"/>
          <p:cNvSpPr/>
          <p:nvPr/>
        </p:nvSpPr>
        <p:spPr>
          <a:xfrm>
            <a:off x="2524125" y="7466707"/>
            <a:ext cx="14773275" cy="1090613"/>
          </a:xfrm>
          <a:prstGeom prst="roundRect">
            <a:avLst>
              <a:gd name="adj" fmla="val 17467"/>
            </a:avLst>
          </a:prstGeom>
          <a:solidFill>
            <a:srgbClr val="FFFFFF"/>
          </a:solidFill>
          <a:ln w="14288">
            <a:solidFill>
              <a:srgbClr val="DDE6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62263" y="7823895"/>
            <a:ext cx="6286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6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3681413" y="7728645"/>
            <a:ext cx="136761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kern="0" spc="-4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배당 (Dividend)</a:t>
            </a:r>
            <a:endParaRPr lang="en-US" sz="2025" dirty="0"/>
          </a:p>
        </p:txBody>
      </p:sp>
      <p:sp>
        <p:nvSpPr>
          <p:cNvPr id="27" name="Text 24"/>
          <p:cNvSpPr/>
          <p:nvPr/>
        </p:nvSpPr>
        <p:spPr>
          <a:xfrm>
            <a:off x="3681413" y="8081070"/>
            <a:ext cx="1367618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연말에 기여 지분만큼 복지카드 포인트로 배당</a:t>
            </a:r>
            <a:endParaRPr lang="en-US" sz="1425" dirty="0"/>
          </a:p>
        </p:txBody>
      </p:sp>
      <p:sp>
        <p:nvSpPr>
          <p:cNvPr id="28" name="Text 25"/>
          <p:cNvSpPr/>
          <p:nvPr/>
        </p:nvSpPr>
        <p:spPr>
          <a:xfrm>
            <a:off x="990600" y="9317831"/>
            <a:ext cx="18331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39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타임소프트(주) · 연차 경매 시스템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7137335" y="9310688"/>
            <a:ext cx="23626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428</Words>
  <Application>Microsoft Office PowerPoint</Application>
  <PresentationFormat>사용자 지정</PresentationFormat>
  <Paragraphs>94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김기철</cp:lastModifiedBy>
  <cp:revision>3</cp:revision>
  <dcterms:created xsi:type="dcterms:W3CDTF">2026-06-04T08:35:53Z</dcterms:created>
  <dcterms:modified xsi:type="dcterms:W3CDTF">2026-06-05T01:56:45Z</dcterms:modified>
</cp:coreProperties>
</file>