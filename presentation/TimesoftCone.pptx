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6"/>
  </p:notesMasterIdLst>
  <p:sldIdLst>
    <p:sldId id="256" r:id="rId2"/>
    <p:sldId id="265" r:id="rId3"/>
    <p:sldId id="259" r:id="rId4"/>
    <p:sldId id="266" r:id="rId5"/>
  </p:sldIdLst>
  <p:sldSz cx="18288000" cy="10287000"/>
  <p:notesSz cx="10287000" cy="1828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256" userDrawn="1">
          <p15:clr>
            <a:srgbClr val="A4A3A4"/>
          </p15:clr>
        </p15:guide>
        <p15:guide id="2" pos="5760" userDrawn="1">
          <p15:clr>
            <a:srgbClr val="A4A3A4"/>
          </p15:clr>
        </p15:guide>
        <p15:guide id="3" orient="horz" pos="3784" userDrawn="1">
          <p15:clr>
            <a:srgbClr val="A4A3A4"/>
          </p15:clr>
        </p15:guide>
        <p15:guide id="4" pos="7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6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1068" y="744"/>
      </p:cViewPr>
      <p:guideLst>
        <p:guide orient="horz" pos="6256"/>
        <p:guide pos="5760"/>
        <p:guide orient="horz" pos="3784"/>
        <p:guide pos="7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8297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0402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396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11941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51970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66159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180670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87522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86640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17934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225566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2663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630435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730486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7641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670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1371600" rtl="0" eaLnBrk="1" latinLnBrk="1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1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3F0FF"/>
          </a:solidFill>
          <a:ln/>
        </p:spPr>
      </p:sp>
      <p:pic>
        <p:nvPicPr>
          <p:cNvPr id="3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" y="914400"/>
            <a:ext cx="533400" cy="533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771650" y="895350"/>
            <a:ext cx="265784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kern="0" spc="-72" dirty="0">
                <a:solidFill>
                  <a:srgbClr val="0B1929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타임소프트콘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1771650" y="1295400"/>
            <a:ext cx="160191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kern="0" spc="150" dirty="0">
                <a:solidFill>
                  <a:srgbClr val="8392A7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TIMESOFT·CONE</a:t>
            </a:r>
            <a:endParaRPr lang="en-US" sz="11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16217872" y="366987"/>
            <a:ext cx="1777752" cy="248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lnSpc>
                <a:spcPct val="170000"/>
              </a:lnSpc>
              <a:buNone/>
            </a:pPr>
            <a:r>
              <a:rPr lang="en-US" sz="975" b="1" kern="0" spc="75" dirty="0">
                <a:solidFill>
                  <a:srgbClr val="8392A7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SW</a:t>
            </a:r>
            <a:r>
              <a:rPr lang="ko-KR" altLang="en-US" sz="975" b="1" kern="0" spc="75" dirty="0">
                <a:solidFill>
                  <a:srgbClr val="8392A7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공학</a:t>
            </a:r>
            <a:r>
              <a:rPr lang="en-US" sz="975" b="1" kern="0" spc="75" dirty="0">
                <a:solidFill>
                  <a:srgbClr val="8392A7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PROJECT</a:t>
            </a:r>
            <a:endParaRPr lang="en-US" sz="9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16217872" y="577430"/>
            <a:ext cx="1777752" cy="297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r">
              <a:lnSpc>
                <a:spcPct val="170000"/>
              </a:lnSpc>
              <a:buNone/>
            </a:pPr>
            <a:r>
              <a:rPr lang="en-US" sz="1200" dirty="0">
                <a:solidFill>
                  <a:srgbClr val="3B4A5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2026 사내 </a:t>
            </a:r>
            <a:r>
              <a:rPr lang="en-US" sz="1200" dirty="0" err="1">
                <a:solidFill>
                  <a:srgbClr val="3B4A5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복지</a:t>
            </a:r>
            <a:r>
              <a:rPr lang="en-US" sz="1200" dirty="0">
                <a:solidFill>
                  <a:srgbClr val="3B4A5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ko-KR" altLang="en-US" sz="1200" dirty="0">
                <a:solidFill>
                  <a:srgbClr val="3B4A5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시스템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16217872" y="855515"/>
            <a:ext cx="1777752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r">
              <a:lnSpc>
                <a:spcPct val="170000"/>
              </a:lnSpc>
              <a:buNone/>
            </a:pPr>
            <a:r>
              <a:rPr lang="en-US" sz="1125" dirty="0">
                <a:solidFill>
                  <a:srgbClr val="8392A7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2026 · 06 </a:t>
            </a:r>
            <a:r>
              <a:rPr lang="en-US" altLang="ko-KR" sz="1125" dirty="0">
                <a:solidFill>
                  <a:srgbClr val="8392A7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· 06</a:t>
            </a:r>
            <a:endParaRPr lang="en-US" sz="11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1047750" y="2416373"/>
            <a:ext cx="3220777" cy="4333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Shape 7"/>
          <p:cNvSpPr/>
          <p:nvPr/>
        </p:nvSpPr>
        <p:spPr>
          <a:xfrm>
            <a:off x="1257300" y="2590205"/>
            <a:ext cx="85725" cy="85725"/>
          </a:xfrm>
          <a:prstGeom prst="ellipse">
            <a:avLst/>
          </a:prstGeom>
          <a:solidFill>
            <a:srgbClr val="1B64DA"/>
          </a:solidFill>
          <a:ln/>
        </p:spPr>
      </p:sp>
      <p:sp>
        <p:nvSpPr>
          <p:cNvPr id="12" name="Text 8"/>
          <p:cNvSpPr/>
          <p:nvPr/>
        </p:nvSpPr>
        <p:spPr>
          <a:xfrm>
            <a:off x="1457325" y="2530673"/>
            <a:ext cx="3238872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05" dirty="0">
                <a:solidFill>
                  <a:srgbClr val="1B64D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B2E · ESCROW &amp; DIVIDEND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1047750" y="3173611"/>
            <a:ext cx="11576685" cy="28756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400" b="1" kern="0" spc="-399" dirty="0">
                <a:solidFill>
                  <a:srgbClr val="0B1929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연차 </a:t>
            </a:r>
            <a:r>
              <a:rPr lang="en-US" sz="11400" b="1" kern="0" spc="-399" dirty="0">
                <a:solidFill>
                  <a:srgbClr val="1B64D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경매 </a:t>
            </a:r>
            <a:r>
              <a:rPr lang="en-US" sz="11400" b="1" kern="0" spc="-399" dirty="0">
                <a:solidFill>
                  <a:srgbClr val="0B1929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시스템</a:t>
            </a:r>
            <a:endParaRPr lang="en-US" sz="1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1047750" y="8201025"/>
            <a:ext cx="705300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105" dirty="0">
                <a:solidFill>
                  <a:srgbClr val="8392A7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TEAM MEMBERS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1181100" y="8724900"/>
            <a:ext cx="5524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endParaRPr lang="en-US" sz="15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3A82D07C-E052-CEBD-582A-FB2969D26D66}"/>
              </a:ext>
            </a:extLst>
          </p:cNvPr>
          <p:cNvGrpSpPr/>
          <p:nvPr/>
        </p:nvGrpSpPr>
        <p:grpSpPr>
          <a:xfrm>
            <a:off x="1047750" y="8553450"/>
            <a:ext cx="2835137" cy="866774"/>
            <a:chOff x="1047750" y="8553450"/>
            <a:chExt cx="2835137" cy="866774"/>
          </a:xfrm>
        </p:grpSpPr>
        <p:sp>
          <p:nvSpPr>
            <p:cNvPr id="16" name="Shape 12"/>
            <p:cNvSpPr/>
            <p:nvPr/>
          </p:nvSpPr>
          <p:spPr>
            <a:xfrm>
              <a:off x="1047750" y="8553450"/>
              <a:ext cx="2835137" cy="819150"/>
            </a:xfrm>
            <a:prstGeom prst="roundRect">
              <a:avLst>
                <a:gd name="adj" fmla="val 20930"/>
              </a:avLst>
            </a:prstGeom>
            <a:solidFill>
              <a:srgbClr val="FFFFFF"/>
            </a:solidFill>
            <a:ln/>
          </p:spPr>
        </p:sp>
        <p:sp>
          <p:nvSpPr>
            <p:cNvPr id="19" name="Text 15"/>
            <p:cNvSpPr/>
            <p:nvPr/>
          </p:nvSpPr>
          <p:spPr>
            <a:xfrm>
              <a:off x="1181100" y="8763000"/>
              <a:ext cx="900485" cy="2286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ko-KR" altLang="en-US" sz="1500" b="1" kern="0" spc="-30" dirty="0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김기철</a:t>
              </a:r>
              <a:endParaRPr lang="en-US"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Text 16"/>
            <p:cNvSpPr/>
            <p:nvPr/>
          </p:nvSpPr>
          <p:spPr>
            <a:xfrm>
              <a:off x="1181100" y="9020175"/>
              <a:ext cx="2600698" cy="40004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ko-KR" altLang="en-US" sz="1050" dirty="0">
                  <a:solidFill>
                    <a:srgbClr val="8392A7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기획</a:t>
              </a:r>
              <a:r>
                <a:rPr lang="en-US" altLang="ko-KR" sz="1050" dirty="0">
                  <a:solidFill>
                    <a:srgbClr val="8392A7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/</a:t>
              </a:r>
              <a:r>
                <a:rPr lang="ko-KR" altLang="en-US" sz="1050" dirty="0">
                  <a:solidFill>
                    <a:srgbClr val="8392A7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설계</a:t>
              </a:r>
              <a:r>
                <a:rPr lang="en-US" altLang="ko-KR" sz="1050" dirty="0">
                  <a:solidFill>
                    <a:srgbClr val="8392A7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, DB, </a:t>
              </a:r>
              <a:r>
                <a:rPr lang="ko-KR" altLang="en-US" sz="1050" dirty="0">
                  <a:solidFill>
                    <a:srgbClr val="8392A7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외부 시스템 연동</a:t>
              </a:r>
              <a:r>
                <a:rPr lang="en-US" altLang="ko-KR" sz="1050" dirty="0">
                  <a:solidFill>
                    <a:srgbClr val="8392A7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 </a:t>
              </a:r>
            </a:p>
          </p:txBody>
        </p:sp>
      </p:grpSp>
      <p:sp>
        <p:nvSpPr>
          <p:cNvPr id="23" name="Text 19"/>
          <p:cNvSpPr/>
          <p:nvPr/>
        </p:nvSpPr>
        <p:spPr>
          <a:xfrm>
            <a:off x="3129335" y="8724900"/>
            <a:ext cx="5524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 b="1" kern="0" spc="-3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이</a:t>
            </a:r>
            <a:endParaRPr lang="en-US" sz="15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DEFC18E1-CCA4-AC23-1948-D12FCE862F0A}"/>
              </a:ext>
            </a:extLst>
          </p:cNvPr>
          <p:cNvGrpSpPr/>
          <p:nvPr/>
        </p:nvGrpSpPr>
        <p:grpSpPr>
          <a:xfrm>
            <a:off x="4135177" y="8548688"/>
            <a:ext cx="2835137" cy="866774"/>
            <a:chOff x="1047750" y="8553450"/>
            <a:chExt cx="2835137" cy="866774"/>
          </a:xfrm>
        </p:grpSpPr>
        <p:sp>
          <p:nvSpPr>
            <p:cNvPr id="53" name="Shape 12">
              <a:extLst>
                <a:ext uri="{FF2B5EF4-FFF2-40B4-BE49-F238E27FC236}">
                  <a16:creationId xmlns:a16="http://schemas.microsoft.com/office/drawing/2014/main" id="{DC17170D-8CEA-9E3E-C87A-5F04CB3E69BE}"/>
                </a:ext>
              </a:extLst>
            </p:cNvPr>
            <p:cNvSpPr/>
            <p:nvPr/>
          </p:nvSpPr>
          <p:spPr>
            <a:xfrm>
              <a:off x="1047750" y="8553450"/>
              <a:ext cx="2835137" cy="819150"/>
            </a:xfrm>
            <a:prstGeom prst="roundRect">
              <a:avLst>
                <a:gd name="adj" fmla="val 20930"/>
              </a:avLst>
            </a:prstGeom>
            <a:solidFill>
              <a:srgbClr val="FFFFFF"/>
            </a:solidFill>
            <a:ln/>
          </p:spPr>
        </p:sp>
        <p:sp>
          <p:nvSpPr>
            <p:cNvPr id="54" name="Text 15">
              <a:extLst>
                <a:ext uri="{FF2B5EF4-FFF2-40B4-BE49-F238E27FC236}">
                  <a16:creationId xmlns:a16="http://schemas.microsoft.com/office/drawing/2014/main" id="{C5E3CE9C-DD54-6153-35E1-413743A48E6E}"/>
                </a:ext>
              </a:extLst>
            </p:cNvPr>
            <p:cNvSpPr/>
            <p:nvPr/>
          </p:nvSpPr>
          <p:spPr>
            <a:xfrm>
              <a:off x="1181100" y="8763000"/>
              <a:ext cx="900485" cy="2286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ko-KR" altLang="en-US" sz="1500" b="1" kern="0" spc="-30">
                  <a:solidFill>
                    <a:srgbClr val="0B192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오지석</a:t>
              </a:r>
              <a:endParaRPr lang="en-US"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Text 16">
              <a:extLst>
                <a:ext uri="{FF2B5EF4-FFF2-40B4-BE49-F238E27FC236}">
                  <a16:creationId xmlns:a16="http://schemas.microsoft.com/office/drawing/2014/main" id="{C3266051-1145-354B-4AD2-B0ED3A09F3E5}"/>
                </a:ext>
              </a:extLst>
            </p:cNvPr>
            <p:cNvSpPr/>
            <p:nvPr/>
          </p:nvSpPr>
          <p:spPr>
            <a:xfrm>
              <a:off x="1181100" y="9020175"/>
              <a:ext cx="2600698" cy="40004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ko-KR" altLang="en-US" sz="1050" dirty="0">
                  <a:solidFill>
                    <a:srgbClr val="8392A7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전체 개발</a:t>
              </a:r>
              <a:r>
                <a:rPr lang="en-US" altLang="ko-KR" sz="1050" dirty="0">
                  <a:solidFill>
                    <a:srgbClr val="8392A7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, </a:t>
              </a:r>
              <a:r>
                <a:rPr lang="ko-KR" altLang="en-US" sz="1050" dirty="0">
                  <a:solidFill>
                    <a:srgbClr val="8392A7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디자인 설계</a:t>
              </a:r>
              <a:endParaRPr lang="en-US" altLang="ko-KR" sz="1050" dirty="0">
                <a:solidFill>
                  <a:srgbClr val="8392A7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endParaRPr>
            </a:p>
          </p:txBody>
        </p:sp>
      </p:grpSp>
      <p:sp>
        <p:nvSpPr>
          <p:cNvPr id="58" name="Text 3">
            <a:extLst>
              <a:ext uri="{FF2B5EF4-FFF2-40B4-BE49-F238E27FC236}">
                <a16:creationId xmlns:a16="http://schemas.microsoft.com/office/drawing/2014/main" id="{FB2FD239-E218-BCE6-BD46-27AFED049DD1}"/>
              </a:ext>
            </a:extLst>
          </p:cNvPr>
          <p:cNvSpPr/>
          <p:nvPr/>
        </p:nvSpPr>
        <p:spPr>
          <a:xfrm>
            <a:off x="1114425" y="6011168"/>
            <a:ext cx="585588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75" b="1" kern="0" spc="188" dirty="0">
                <a:solidFill>
                  <a:srgbClr val="1B64D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AGENDA · 목차</a:t>
            </a:r>
            <a:endParaRPr lang="en-US" sz="12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C2BB811D-E41A-B7CD-1C3A-F67E783BF675}"/>
              </a:ext>
            </a:extLst>
          </p:cNvPr>
          <p:cNvGrpSpPr/>
          <p:nvPr/>
        </p:nvGrpSpPr>
        <p:grpSpPr>
          <a:xfrm>
            <a:off x="1090095" y="6506468"/>
            <a:ext cx="4668533" cy="323850"/>
            <a:chOff x="1257300" y="6515993"/>
            <a:chExt cx="4668533" cy="323850"/>
          </a:xfrm>
        </p:grpSpPr>
        <p:sp>
          <p:nvSpPr>
            <p:cNvPr id="59" name="Text 8">
              <a:extLst>
                <a:ext uri="{FF2B5EF4-FFF2-40B4-BE49-F238E27FC236}">
                  <a16:creationId xmlns:a16="http://schemas.microsoft.com/office/drawing/2014/main" id="{890BABA5-FCEF-AE11-BF88-924A82AFB0ED}"/>
                </a:ext>
              </a:extLst>
            </p:cNvPr>
            <p:cNvSpPr/>
            <p:nvPr/>
          </p:nvSpPr>
          <p:spPr>
            <a:xfrm>
              <a:off x="1257300" y="6515993"/>
              <a:ext cx="215900" cy="3238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25" b="1" dirty="0">
                  <a:solidFill>
                    <a:srgbClr val="1B64DA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01</a:t>
              </a:r>
              <a:endParaRPr lang="en-US" sz="1125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Text 9">
              <a:extLst>
                <a:ext uri="{FF2B5EF4-FFF2-40B4-BE49-F238E27FC236}">
                  <a16:creationId xmlns:a16="http://schemas.microsoft.com/office/drawing/2014/main" id="{C6514643-47EF-E64F-9439-5E043A85A321}"/>
                </a:ext>
              </a:extLst>
            </p:cNvPr>
            <p:cNvSpPr/>
            <p:nvPr/>
          </p:nvSpPr>
          <p:spPr>
            <a:xfrm>
              <a:off x="1566794" y="6555127"/>
              <a:ext cx="4359039" cy="2667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altLang="ko-KR" sz="1500" b="1" dirty="0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14</a:t>
              </a:r>
              <a:r>
                <a:rPr lang="ko-KR" altLang="en-US" sz="1500" b="1" dirty="0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주차 변경사항</a:t>
              </a:r>
              <a:endParaRPr 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D1091ED1-97C9-84A9-05A8-E3B1F7145469}"/>
              </a:ext>
            </a:extLst>
          </p:cNvPr>
          <p:cNvGrpSpPr/>
          <p:nvPr/>
        </p:nvGrpSpPr>
        <p:grpSpPr>
          <a:xfrm>
            <a:off x="1090095" y="6887021"/>
            <a:ext cx="4668533" cy="323850"/>
            <a:chOff x="1257300" y="6515993"/>
            <a:chExt cx="4668533" cy="323850"/>
          </a:xfrm>
        </p:grpSpPr>
        <p:sp>
          <p:nvSpPr>
            <p:cNvPr id="73" name="Text 8">
              <a:extLst>
                <a:ext uri="{FF2B5EF4-FFF2-40B4-BE49-F238E27FC236}">
                  <a16:creationId xmlns:a16="http://schemas.microsoft.com/office/drawing/2014/main" id="{40FFAEEE-0550-E984-803F-8DF842C832FE}"/>
                </a:ext>
              </a:extLst>
            </p:cNvPr>
            <p:cNvSpPr/>
            <p:nvPr/>
          </p:nvSpPr>
          <p:spPr>
            <a:xfrm>
              <a:off x="1257300" y="6515993"/>
              <a:ext cx="215900" cy="3238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25" b="1" dirty="0">
                  <a:solidFill>
                    <a:srgbClr val="1B64DA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02</a:t>
              </a:r>
              <a:endParaRPr lang="en-US" sz="1125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Text 9">
              <a:extLst>
                <a:ext uri="{FF2B5EF4-FFF2-40B4-BE49-F238E27FC236}">
                  <a16:creationId xmlns:a16="http://schemas.microsoft.com/office/drawing/2014/main" id="{FD7A8E0F-3F64-FF91-8324-980F149564AD}"/>
                </a:ext>
              </a:extLst>
            </p:cNvPr>
            <p:cNvSpPr/>
            <p:nvPr/>
          </p:nvSpPr>
          <p:spPr>
            <a:xfrm>
              <a:off x="1566794" y="6561299"/>
              <a:ext cx="4359039" cy="2667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ko-KR" altLang="en-US" sz="1500" b="1" dirty="0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사용자 기능 미리보기</a:t>
              </a:r>
              <a:endParaRPr 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94B42D17-AC9D-3297-469C-18D4AB97B833}"/>
              </a:ext>
            </a:extLst>
          </p:cNvPr>
          <p:cNvGrpSpPr/>
          <p:nvPr/>
        </p:nvGrpSpPr>
        <p:grpSpPr>
          <a:xfrm>
            <a:off x="1090095" y="7279027"/>
            <a:ext cx="4668533" cy="323850"/>
            <a:chOff x="1257300" y="6515993"/>
            <a:chExt cx="4668533" cy="323850"/>
          </a:xfrm>
        </p:grpSpPr>
        <p:sp>
          <p:nvSpPr>
            <p:cNvPr id="76" name="Text 8">
              <a:extLst>
                <a:ext uri="{FF2B5EF4-FFF2-40B4-BE49-F238E27FC236}">
                  <a16:creationId xmlns:a16="http://schemas.microsoft.com/office/drawing/2014/main" id="{518A3D62-44B1-F123-94F1-E31DCA1061A8}"/>
                </a:ext>
              </a:extLst>
            </p:cNvPr>
            <p:cNvSpPr/>
            <p:nvPr/>
          </p:nvSpPr>
          <p:spPr>
            <a:xfrm>
              <a:off x="1257300" y="6515993"/>
              <a:ext cx="215900" cy="3238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25" b="1" dirty="0">
                  <a:solidFill>
                    <a:srgbClr val="1B64DA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03</a:t>
              </a:r>
              <a:endParaRPr lang="en-US" sz="1125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" name="Text 9">
              <a:extLst>
                <a:ext uri="{FF2B5EF4-FFF2-40B4-BE49-F238E27FC236}">
                  <a16:creationId xmlns:a16="http://schemas.microsoft.com/office/drawing/2014/main" id="{D37B34AA-30EE-474C-697E-3D87868EEADF}"/>
                </a:ext>
              </a:extLst>
            </p:cNvPr>
            <p:cNvSpPr/>
            <p:nvPr/>
          </p:nvSpPr>
          <p:spPr>
            <a:xfrm>
              <a:off x="1566794" y="6555127"/>
              <a:ext cx="4359039" cy="2667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ko-KR" altLang="en-US" sz="1500" b="1" dirty="0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관리자 기능 미리보기</a:t>
              </a:r>
              <a:endParaRPr 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그룹 68">
            <a:extLst>
              <a:ext uri="{FF2B5EF4-FFF2-40B4-BE49-F238E27FC236}">
                <a16:creationId xmlns:a16="http://schemas.microsoft.com/office/drawing/2014/main" id="{DB845374-1BB8-34EE-AAEB-A561EC08BADD}"/>
              </a:ext>
            </a:extLst>
          </p:cNvPr>
          <p:cNvGrpSpPr/>
          <p:nvPr/>
        </p:nvGrpSpPr>
        <p:grpSpPr>
          <a:xfrm>
            <a:off x="242205" y="314325"/>
            <a:ext cx="2971800" cy="419100"/>
            <a:chOff x="372834" y="218318"/>
            <a:chExt cx="2971800" cy="419100"/>
          </a:xfrm>
        </p:grpSpPr>
        <p:pic>
          <p:nvPicPr>
            <p:cNvPr id="3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2834" y="218318"/>
              <a:ext cx="285750" cy="285750"/>
            </a:xfrm>
            <a:prstGeom prst="rect">
              <a:avLst/>
            </a:prstGeom>
          </p:spPr>
        </p:pic>
        <p:sp>
          <p:nvSpPr>
            <p:cNvPr id="4" name="Text 1"/>
            <p:cNvSpPr/>
            <p:nvPr/>
          </p:nvSpPr>
          <p:spPr>
            <a:xfrm>
              <a:off x="782409" y="242131"/>
              <a:ext cx="2562225" cy="39528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575" b="1" kern="0" spc="-47" dirty="0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타임소프트콘</a:t>
              </a:r>
              <a:endParaRPr lang="en-US" sz="1575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3" name="Text 20"/>
          <p:cNvSpPr/>
          <p:nvPr/>
        </p:nvSpPr>
        <p:spPr>
          <a:xfrm>
            <a:off x="17410841" y="9810296"/>
            <a:ext cx="23626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4A5E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02</a:t>
            </a:r>
          </a:p>
        </p:txBody>
      </p: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C4F8061A-6CF4-7C14-E20E-453DB9531BBA}"/>
              </a:ext>
            </a:extLst>
          </p:cNvPr>
          <p:cNvGrpSpPr/>
          <p:nvPr/>
        </p:nvGrpSpPr>
        <p:grpSpPr>
          <a:xfrm>
            <a:off x="598056" y="839046"/>
            <a:ext cx="16796004" cy="1003102"/>
            <a:chOff x="990600" y="1581150"/>
            <a:chExt cx="16796004" cy="1003102"/>
          </a:xfrm>
        </p:grpSpPr>
        <p:sp>
          <p:nvSpPr>
            <p:cNvPr id="6" name="Text 3"/>
            <p:cNvSpPr/>
            <p:nvPr/>
          </p:nvSpPr>
          <p:spPr>
            <a:xfrm>
              <a:off x="990600" y="1581150"/>
              <a:ext cx="16796004" cy="2286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altLang="ko-KR" sz="1280" b="1" kern="0" spc="188" dirty="0">
                  <a:solidFill>
                    <a:srgbClr val="1B64DA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UPDATE · </a:t>
              </a:r>
              <a:r>
                <a:rPr lang="ko-KR" altLang="en-US" sz="1280" b="1" kern="0" spc="188" dirty="0">
                  <a:solidFill>
                    <a:srgbClr val="1B64DA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지난 발표 핵심 </a:t>
              </a:r>
              <a:r>
                <a:rPr lang="en-US" altLang="ko-KR" sz="1280" b="1" kern="0" spc="188" dirty="0">
                  <a:solidFill>
                    <a:srgbClr val="1B64DA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/ </a:t>
              </a:r>
              <a:r>
                <a:rPr lang="ko-KR" altLang="en-US" sz="1280" b="1" kern="0" spc="188" dirty="0">
                  <a:solidFill>
                    <a:srgbClr val="1B64DA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피드백</a:t>
              </a:r>
              <a:r>
                <a:rPr lang="en-US" altLang="ko-KR" sz="1280" b="1" dirty="0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 ·</a:t>
              </a:r>
              <a:r>
                <a:rPr lang="en-US" altLang="ko-KR" sz="1280" b="1" kern="0" spc="188" dirty="0">
                  <a:solidFill>
                    <a:srgbClr val="1B64DA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 </a:t>
              </a:r>
              <a:r>
                <a:rPr lang="ko-KR" altLang="en-US" sz="1280" b="1" kern="0" spc="188" dirty="0">
                  <a:solidFill>
                    <a:srgbClr val="1B64DA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결정사항</a:t>
              </a:r>
              <a:endParaRPr lang="en-US" altLang="ko-KR" sz="128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Text 4">
              <a:extLst>
                <a:ext uri="{FF2B5EF4-FFF2-40B4-BE49-F238E27FC236}">
                  <a16:creationId xmlns:a16="http://schemas.microsoft.com/office/drawing/2014/main" id="{19C28073-1FD1-C0E7-0E3C-0CC14412FADF}"/>
                </a:ext>
              </a:extLst>
            </p:cNvPr>
            <p:cNvSpPr/>
            <p:nvPr/>
          </p:nvSpPr>
          <p:spPr>
            <a:xfrm>
              <a:off x="990600" y="1905000"/>
              <a:ext cx="16796004" cy="67925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lnSpc>
                  <a:spcPct val="102000"/>
                </a:lnSpc>
                <a:buNone/>
              </a:pPr>
              <a:r>
                <a:rPr lang="en-US" altLang="ko-KR" sz="4950" b="1" kern="0" spc="-173" dirty="0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14</a:t>
              </a:r>
              <a:r>
                <a:rPr lang="ko-KR" altLang="en-US" sz="4950" b="1" kern="0" spc="-173" dirty="0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주차 변경사항</a:t>
              </a:r>
              <a:endParaRPr lang="en-US" altLang="ko-KR" sz="49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9" name="Shape 5">
            <a:extLst>
              <a:ext uri="{FF2B5EF4-FFF2-40B4-BE49-F238E27FC236}">
                <a16:creationId xmlns:a16="http://schemas.microsoft.com/office/drawing/2014/main" id="{48E9C5CC-C8CB-F72E-BBD0-32E4F26AB6C5}"/>
              </a:ext>
            </a:extLst>
          </p:cNvPr>
          <p:cNvSpPr/>
          <p:nvPr/>
        </p:nvSpPr>
        <p:spPr>
          <a:xfrm>
            <a:off x="869465" y="2235993"/>
            <a:ext cx="7977188" cy="6307336"/>
          </a:xfrm>
          <a:prstGeom prst="roundRect">
            <a:avLst>
              <a:gd name="adj" fmla="val 3624"/>
            </a:avLst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/>
          <a:lstStyle/>
          <a:p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Shape 6">
            <a:extLst>
              <a:ext uri="{FF2B5EF4-FFF2-40B4-BE49-F238E27FC236}">
                <a16:creationId xmlns:a16="http://schemas.microsoft.com/office/drawing/2014/main" id="{432B1622-C0DE-A162-1F60-831A12F3AE13}"/>
              </a:ext>
            </a:extLst>
          </p:cNvPr>
          <p:cNvSpPr/>
          <p:nvPr/>
        </p:nvSpPr>
        <p:spPr>
          <a:xfrm>
            <a:off x="1288565" y="2636043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1B64DA"/>
          </a:solidFill>
          <a:ln/>
        </p:spPr>
      </p:sp>
      <p:pic>
        <p:nvPicPr>
          <p:cNvPr id="37" name="Image 1" descr="preencoded.png">
            <a:extLst>
              <a:ext uri="{FF2B5EF4-FFF2-40B4-BE49-F238E27FC236}">
                <a16:creationId xmlns:a16="http://schemas.microsoft.com/office/drawing/2014/main" id="{8DDCD64E-F8A6-FB5B-BE5F-70AC5E7A2D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3340" y="2740818"/>
            <a:ext cx="209550" cy="209550"/>
          </a:xfrm>
          <a:prstGeom prst="rect">
            <a:avLst/>
          </a:prstGeom>
        </p:spPr>
      </p:pic>
      <p:sp>
        <p:nvSpPr>
          <p:cNvPr id="38" name="Text 7">
            <a:extLst>
              <a:ext uri="{FF2B5EF4-FFF2-40B4-BE49-F238E27FC236}">
                <a16:creationId xmlns:a16="http://schemas.microsoft.com/office/drawing/2014/main" id="{EF18FDD4-BF59-BF4B-48F0-D881F28F61ED}"/>
              </a:ext>
            </a:extLst>
          </p:cNvPr>
          <p:cNvSpPr/>
          <p:nvPr/>
        </p:nvSpPr>
        <p:spPr>
          <a:xfrm>
            <a:off x="1879528" y="2650330"/>
            <a:ext cx="300379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spc="-39" dirty="0" err="1">
                <a:solidFill>
                  <a:srgbClr val="0B1929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지난</a:t>
            </a:r>
            <a:r>
              <a:rPr lang="en-US" sz="2400" b="1" kern="0" spc="-39" dirty="0">
                <a:solidFill>
                  <a:srgbClr val="0B1929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2400" b="1" kern="0" spc="-39" dirty="0" err="1">
                <a:solidFill>
                  <a:srgbClr val="0B1929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발표</a:t>
            </a:r>
            <a:r>
              <a:rPr lang="en-US" sz="2400" b="1" kern="0" spc="-39" dirty="0">
                <a:solidFill>
                  <a:srgbClr val="0B1929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2400" b="1" kern="0" spc="-39" dirty="0" err="1">
                <a:solidFill>
                  <a:srgbClr val="0B1929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핵심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8300DA7D-07E8-A057-32AF-EDFC0B63A760}"/>
              </a:ext>
            </a:extLst>
          </p:cNvPr>
          <p:cNvGrpSpPr/>
          <p:nvPr/>
        </p:nvGrpSpPr>
        <p:grpSpPr>
          <a:xfrm>
            <a:off x="1288565" y="3277640"/>
            <a:ext cx="7446478" cy="850553"/>
            <a:chOff x="1409700" y="4044999"/>
            <a:chExt cx="7446478" cy="850553"/>
          </a:xfrm>
        </p:grpSpPr>
        <p:sp>
          <p:nvSpPr>
            <p:cNvPr id="40" name="Shape 8">
              <a:extLst>
                <a:ext uri="{FF2B5EF4-FFF2-40B4-BE49-F238E27FC236}">
                  <a16:creationId xmlns:a16="http://schemas.microsoft.com/office/drawing/2014/main" id="{BF749592-5E42-6148-3388-B5EEDB2B1D05}"/>
                </a:ext>
              </a:extLst>
            </p:cNvPr>
            <p:cNvSpPr/>
            <p:nvPr/>
          </p:nvSpPr>
          <p:spPr>
            <a:xfrm>
              <a:off x="1409700" y="4224932"/>
              <a:ext cx="85725" cy="85725"/>
            </a:xfrm>
            <a:prstGeom prst="roundRect">
              <a:avLst>
                <a:gd name="adj" fmla="val 33333"/>
              </a:avLst>
            </a:prstGeom>
            <a:solidFill>
              <a:srgbClr val="1B64DA"/>
            </a:solidFill>
            <a:ln/>
          </p:spPr>
        </p:sp>
        <p:sp>
          <p:nvSpPr>
            <p:cNvPr id="41" name="Text 9">
              <a:extLst>
                <a:ext uri="{FF2B5EF4-FFF2-40B4-BE49-F238E27FC236}">
                  <a16:creationId xmlns:a16="http://schemas.microsoft.com/office/drawing/2014/main" id="{53AF525B-1E6E-48BD-176A-D279ACF6D904}"/>
                </a:ext>
              </a:extLst>
            </p:cNvPr>
            <p:cNvSpPr/>
            <p:nvPr/>
          </p:nvSpPr>
          <p:spPr>
            <a:xfrm>
              <a:off x="1638299" y="4044999"/>
              <a:ext cx="7217879" cy="850553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en-US" b="1" dirty="0" err="1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경매</a:t>
              </a:r>
              <a:r>
                <a:rPr lang="en-US" b="1" dirty="0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 · </a:t>
              </a:r>
              <a:r>
                <a:rPr lang="en-US" b="1" dirty="0" err="1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입찰</a:t>
              </a:r>
              <a:r>
                <a:rPr lang="en-US" b="1" dirty="0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 </a:t>
              </a:r>
              <a:r>
                <a:rPr lang="ko-KR" altLang="en-US" b="1" dirty="0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기능</a:t>
              </a:r>
              <a:r>
                <a:rPr lang="en-US" b="1" dirty="0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 </a:t>
              </a:r>
              <a:r>
                <a:rPr lang="en-US" b="1" dirty="0" err="1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완성</a:t>
              </a:r>
              <a:r>
                <a:rPr lang="en-US" b="1" dirty="0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 </a:t>
              </a:r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ko-KR" altLang="en-US" sz="1600" b="1" dirty="0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복지 포인트 입찰 → 단일 트랜잭션 낙찰</a:t>
              </a:r>
              <a:r>
                <a:rPr lang="en-US" altLang="ko-KR" sz="1600" b="1" dirty="0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 ·</a:t>
              </a:r>
              <a:r>
                <a:rPr lang="ko-KR" altLang="en-US" sz="1600" b="1" dirty="0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자동 환불 </a:t>
              </a:r>
              <a:r>
                <a:rPr lang="en-US" altLang="ko-KR" sz="1600" b="1" dirty="0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/ </a:t>
              </a:r>
              <a:r>
                <a:rPr lang="ko-KR" altLang="en-US" sz="1600" b="1" dirty="0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즉시 연차 부여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9E56758B-9152-AD4F-0F77-F3DAC41BF430}"/>
              </a:ext>
            </a:extLst>
          </p:cNvPr>
          <p:cNvGrpSpPr/>
          <p:nvPr/>
        </p:nvGrpSpPr>
        <p:grpSpPr>
          <a:xfrm>
            <a:off x="1279040" y="4319287"/>
            <a:ext cx="7446478" cy="850553"/>
            <a:chOff x="1409700" y="4044999"/>
            <a:chExt cx="7446478" cy="850553"/>
          </a:xfrm>
        </p:grpSpPr>
        <p:sp>
          <p:nvSpPr>
            <p:cNvPr id="43" name="Shape 8">
              <a:extLst>
                <a:ext uri="{FF2B5EF4-FFF2-40B4-BE49-F238E27FC236}">
                  <a16:creationId xmlns:a16="http://schemas.microsoft.com/office/drawing/2014/main" id="{5281A25C-AFEE-EB42-ACD7-72A30F697A48}"/>
                </a:ext>
              </a:extLst>
            </p:cNvPr>
            <p:cNvSpPr/>
            <p:nvPr/>
          </p:nvSpPr>
          <p:spPr>
            <a:xfrm>
              <a:off x="1409700" y="4224932"/>
              <a:ext cx="85725" cy="85725"/>
            </a:xfrm>
            <a:prstGeom prst="roundRect">
              <a:avLst>
                <a:gd name="adj" fmla="val 33333"/>
              </a:avLst>
            </a:prstGeom>
            <a:solidFill>
              <a:srgbClr val="1B64DA"/>
            </a:solidFill>
            <a:ln/>
          </p:spPr>
        </p:sp>
        <p:sp>
          <p:nvSpPr>
            <p:cNvPr id="50" name="Text 9">
              <a:extLst>
                <a:ext uri="{FF2B5EF4-FFF2-40B4-BE49-F238E27FC236}">
                  <a16:creationId xmlns:a16="http://schemas.microsoft.com/office/drawing/2014/main" id="{94373ABD-4F17-98C9-5DD7-45662198E0C1}"/>
                </a:ext>
              </a:extLst>
            </p:cNvPr>
            <p:cNvSpPr/>
            <p:nvPr/>
          </p:nvSpPr>
          <p:spPr>
            <a:xfrm>
              <a:off x="1638299" y="4044999"/>
              <a:ext cx="7217879" cy="850553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en-US" b="1" dirty="0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P2P </a:t>
              </a:r>
              <a:r>
                <a:rPr lang="ko-KR" altLang="en-US" sz="1800" b="1" dirty="0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→ </a:t>
              </a:r>
              <a:r>
                <a:rPr lang="en-US" altLang="ko-KR" sz="1800" b="1" dirty="0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B2E </a:t>
              </a:r>
              <a:r>
                <a:rPr lang="ko-KR" altLang="en-US" sz="1800" b="1" dirty="0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설계</a:t>
              </a:r>
              <a:endParaRPr lang="en-US" b="1" dirty="0">
                <a:solidFill>
                  <a:srgbClr val="0B1929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endParaRPr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ko-KR" altLang="en-US" sz="1600" b="1" dirty="0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직원간 개인 연차 거래 → 회사가 중개하는 작년에 못쓴 연차 경매 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5251A058-B786-9A3D-23B1-0E8341CEA7D6}"/>
              </a:ext>
            </a:extLst>
          </p:cNvPr>
          <p:cNvGrpSpPr/>
          <p:nvPr/>
        </p:nvGrpSpPr>
        <p:grpSpPr>
          <a:xfrm>
            <a:off x="1279040" y="5352379"/>
            <a:ext cx="7446478" cy="850553"/>
            <a:chOff x="1409700" y="4044999"/>
            <a:chExt cx="7446478" cy="850553"/>
          </a:xfrm>
        </p:grpSpPr>
        <p:sp>
          <p:nvSpPr>
            <p:cNvPr id="58" name="Shape 8">
              <a:extLst>
                <a:ext uri="{FF2B5EF4-FFF2-40B4-BE49-F238E27FC236}">
                  <a16:creationId xmlns:a16="http://schemas.microsoft.com/office/drawing/2014/main" id="{AEBBB64B-735A-017A-5B39-0E014FFBF8B3}"/>
                </a:ext>
              </a:extLst>
            </p:cNvPr>
            <p:cNvSpPr/>
            <p:nvPr/>
          </p:nvSpPr>
          <p:spPr>
            <a:xfrm>
              <a:off x="1409700" y="4224932"/>
              <a:ext cx="85725" cy="85725"/>
            </a:xfrm>
            <a:prstGeom prst="roundRect">
              <a:avLst>
                <a:gd name="adj" fmla="val 33333"/>
              </a:avLst>
            </a:prstGeom>
            <a:solidFill>
              <a:srgbClr val="1B64DA"/>
            </a:solidFill>
            <a:ln/>
          </p:spPr>
        </p:sp>
        <p:sp>
          <p:nvSpPr>
            <p:cNvPr id="59" name="Text 9">
              <a:extLst>
                <a:ext uri="{FF2B5EF4-FFF2-40B4-BE49-F238E27FC236}">
                  <a16:creationId xmlns:a16="http://schemas.microsoft.com/office/drawing/2014/main" id="{0583B9C4-5A38-814F-6DEA-4FD8BBF04DEB}"/>
                </a:ext>
              </a:extLst>
            </p:cNvPr>
            <p:cNvSpPr/>
            <p:nvPr/>
          </p:nvSpPr>
          <p:spPr>
            <a:xfrm>
              <a:off x="1638299" y="4044999"/>
              <a:ext cx="7217879" cy="850553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ko-KR" altLang="en-US" b="1" dirty="0" err="1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헥사고날</a:t>
              </a:r>
              <a:r>
                <a:rPr lang="ko-KR" altLang="en-US" b="1" dirty="0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 아키텍처</a:t>
              </a:r>
              <a:endParaRPr lang="en-US" b="1" dirty="0">
                <a:solidFill>
                  <a:srgbClr val="0B1929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endParaRPr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en-US" altLang="ko-KR" sz="1600" b="1" dirty="0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DB · </a:t>
              </a:r>
              <a:r>
                <a:rPr lang="ko-KR" altLang="en-US" sz="1600" b="1" dirty="0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화폐</a:t>
              </a:r>
              <a:r>
                <a:rPr lang="en-US" altLang="ko-KR" sz="1600" b="1" dirty="0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 · </a:t>
              </a:r>
              <a:r>
                <a:rPr lang="ko-KR" altLang="en-US" sz="1600" b="1" dirty="0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외부 연동이 바뀌어도 어댑터만 교체</a:t>
              </a:r>
              <a:r>
                <a:rPr lang="en-US" altLang="ko-KR" sz="1600" b="1" dirty="0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, </a:t>
              </a:r>
              <a:r>
                <a:rPr lang="ko-KR" altLang="en-US" sz="1600" b="1" dirty="0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도메인 코어는 변경</a:t>
              </a:r>
              <a:r>
                <a:rPr lang="en-US" altLang="ko-KR" sz="1600" b="1" dirty="0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X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2" name="Shape 14">
            <a:extLst>
              <a:ext uri="{FF2B5EF4-FFF2-40B4-BE49-F238E27FC236}">
                <a16:creationId xmlns:a16="http://schemas.microsoft.com/office/drawing/2014/main" id="{B5D401CC-7977-7581-4630-87423BAE672C}"/>
              </a:ext>
            </a:extLst>
          </p:cNvPr>
          <p:cNvSpPr/>
          <p:nvPr/>
        </p:nvSpPr>
        <p:spPr>
          <a:xfrm>
            <a:off x="9291638" y="2235993"/>
            <a:ext cx="8005763" cy="6307336"/>
          </a:xfrm>
          <a:prstGeom prst="roundRect">
            <a:avLst>
              <a:gd name="adj" fmla="val 3624"/>
            </a:avLst>
          </a:prstGeom>
          <a:solidFill>
            <a:srgbClr val="FFF6D3"/>
          </a:solidFill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sp>
      <p:sp>
        <p:nvSpPr>
          <p:cNvPr id="63" name="Shape 15">
            <a:extLst>
              <a:ext uri="{FF2B5EF4-FFF2-40B4-BE49-F238E27FC236}">
                <a16:creationId xmlns:a16="http://schemas.microsoft.com/office/drawing/2014/main" id="{09E28DB5-F583-E861-9E95-ECD9858D0D8D}"/>
              </a:ext>
            </a:extLst>
          </p:cNvPr>
          <p:cNvSpPr/>
          <p:nvPr/>
        </p:nvSpPr>
        <p:spPr>
          <a:xfrm>
            <a:off x="9725025" y="265033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E08B19"/>
          </a:solidFill>
          <a:ln/>
        </p:spPr>
        <p:txBody>
          <a:bodyPr/>
          <a:lstStyle/>
          <a:p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1" name="Image 2" descr="preencoded.png">
            <a:extLst>
              <a:ext uri="{FF2B5EF4-FFF2-40B4-BE49-F238E27FC236}">
                <a16:creationId xmlns:a16="http://schemas.microsoft.com/office/drawing/2014/main" id="{71D1EC14-35F3-1DFB-9F27-F4EDA53A4A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0" y="2755105"/>
            <a:ext cx="209550" cy="209550"/>
          </a:xfrm>
          <a:prstGeom prst="rect">
            <a:avLst/>
          </a:prstGeom>
        </p:spPr>
      </p:pic>
      <p:sp>
        <p:nvSpPr>
          <p:cNvPr id="72" name="Text 16">
            <a:extLst>
              <a:ext uri="{FF2B5EF4-FFF2-40B4-BE49-F238E27FC236}">
                <a16:creationId xmlns:a16="http://schemas.microsoft.com/office/drawing/2014/main" id="{6B466D52-D843-9E5A-619C-D71EF6BB1E3E}"/>
              </a:ext>
            </a:extLst>
          </p:cNvPr>
          <p:cNvSpPr/>
          <p:nvPr/>
        </p:nvSpPr>
        <p:spPr>
          <a:xfrm>
            <a:off x="10277474" y="2673844"/>
            <a:ext cx="370522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spc="-39" dirty="0">
                <a:solidFill>
                  <a:srgbClr val="0B1929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피드백 · 결정사항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B7109C79-79FE-9F92-EA29-BBCF7F439792}"/>
              </a:ext>
            </a:extLst>
          </p:cNvPr>
          <p:cNvGrpSpPr/>
          <p:nvPr/>
        </p:nvGrpSpPr>
        <p:grpSpPr>
          <a:xfrm>
            <a:off x="9839325" y="3277640"/>
            <a:ext cx="7446478" cy="850553"/>
            <a:chOff x="1409700" y="4044999"/>
            <a:chExt cx="7446478" cy="850553"/>
          </a:xfrm>
        </p:grpSpPr>
        <p:sp>
          <p:nvSpPr>
            <p:cNvPr id="80" name="Shape 8">
              <a:extLst>
                <a:ext uri="{FF2B5EF4-FFF2-40B4-BE49-F238E27FC236}">
                  <a16:creationId xmlns:a16="http://schemas.microsoft.com/office/drawing/2014/main" id="{235FA7AD-3389-D6E7-E988-4360DA27BE6B}"/>
                </a:ext>
              </a:extLst>
            </p:cNvPr>
            <p:cNvSpPr/>
            <p:nvPr/>
          </p:nvSpPr>
          <p:spPr>
            <a:xfrm>
              <a:off x="1409700" y="4224932"/>
              <a:ext cx="85725" cy="85725"/>
            </a:xfrm>
            <a:prstGeom prst="roundRect">
              <a:avLst>
                <a:gd name="adj" fmla="val 33333"/>
              </a:avLst>
            </a:prstGeom>
            <a:solidFill>
              <a:schemeClr val="accent6"/>
            </a:solidFill>
            <a:ln/>
          </p:spPr>
        </p:sp>
        <p:sp>
          <p:nvSpPr>
            <p:cNvPr id="81" name="Text 9">
              <a:extLst>
                <a:ext uri="{FF2B5EF4-FFF2-40B4-BE49-F238E27FC236}">
                  <a16:creationId xmlns:a16="http://schemas.microsoft.com/office/drawing/2014/main" id="{C9779283-2DFF-1FEE-AF90-79D09DE40A3F}"/>
                </a:ext>
              </a:extLst>
            </p:cNvPr>
            <p:cNvSpPr/>
            <p:nvPr/>
          </p:nvSpPr>
          <p:spPr>
            <a:xfrm>
              <a:off x="1638299" y="4044999"/>
              <a:ext cx="7217879" cy="850553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ko-KR" altLang="en-US" b="1" dirty="0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내부 포인트 제도 </a:t>
              </a:r>
              <a:r>
                <a:rPr lang="en-US" altLang="ko-KR" b="1" dirty="0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“</a:t>
              </a:r>
              <a:r>
                <a:rPr lang="ko-KR" altLang="en-US" b="1" dirty="0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콘</a:t>
              </a:r>
              <a:r>
                <a:rPr lang="en-US" altLang="ko-KR" b="1" dirty="0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”</a:t>
              </a:r>
              <a:r>
                <a:rPr lang="ko-KR" altLang="en-US" b="1" dirty="0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 신설</a:t>
              </a:r>
              <a:endParaRPr lang="en-US" altLang="ko-KR" b="1" dirty="0">
                <a:solidFill>
                  <a:srgbClr val="0B1929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endParaRPr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ko-KR" altLang="en-US" sz="1600" b="1" dirty="0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시스템 내부에서 자체적으로 사용하는 가상통화 추가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1EFD8CF0-EB9A-A391-96DD-0647E31FCA9D}"/>
              </a:ext>
            </a:extLst>
          </p:cNvPr>
          <p:cNvGrpSpPr/>
          <p:nvPr/>
        </p:nvGrpSpPr>
        <p:grpSpPr>
          <a:xfrm>
            <a:off x="9829800" y="4319287"/>
            <a:ext cx="7446478" cy="850553"/>
            <a:chOff x="1409700" y="4044999"/>
            <a:chExt cx="7446478" cy="850553"/>
          </a:xfrm>
        </p:grpSpPr>
        <p:sp>
          <p:nvSpPr>
            <p:cNvPr id="78" name="Shape 8">
              <a:extLst>
                <a:ext uri="{FF2B5EF4-FFF2-40B4-BE49-F238E27FC236}">
                  <a16:creationId xmlns:a16="http://schemas.microsoft.com/office/drawing/2014/main" id="{001E0AE7-9F2B-7FF0-6887-E892384AB220}"/>
                </a:ext>
              </a:extLst>
            </p:cNvPr>
            <p:cNvSpPr/>
            <p:nvPr/>
          </p:nvSpPr>
          <p:spPr>
            <a:xfrm>
              <a:off x="1409700" y="4224932"/>
              <a:ext cx="85725" cy="85725"/>
            </a:xfrm>
            <a:prstGeom prst="roundRect">
              <a:avLst>
                <a:gd name="adj" fmla="val 33333"/>
              </a:avLst>
            </a:prstGeom>
            <a:solidFill>
              <a:schemeClr val="accent6"/>
            </a:solidFill>
            <a:ln/>
          </p:spPr>
        </p:sp>
        <p:sp>
          <p:nvSpPr>
            <p:cNvPr id="79" name="Text 9">
              <a:extLst>
                <a:ext uri="{FF2B5EF4-FFF2-40B4-BE49-F238E27FC236}">
                  <a16:creationId xmlns:a16="http://schemas.microsoft.com/office/drawing/2014/main" id="{06CE1551-77BC-2242-AC90-204F5766AFBF}"/>
                </a:ext>
              </a:extLst>
            </p:cNvPr>
            <p:cNvSpPr/>
            <p:nvPr/>
          </p:nvSpPr>
          <p:spPr>
            <a:xfrm>
              <a:off x="1638299" y="4044999"/>
              <a:ext cx="7217879" cy="850553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ko-KR" altLang="en-US" b="1" dirty="0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콘 </a:t>
              </a:r>
              <a:r>
                <a:rPr lang="ko-KR" altLang="en-US" b="1" dirty="0" err="1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소비처</a:t>
              </a:r>
              <a:r>
                <a:rPr lang="ko-KR" altLang="en-US" b="1" dirty="0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 </a:t>
              </a:r>
              <a:r>
                <a:rPr lang="en-US" altLang="ko-KR" b="1" dirty="0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“</a:t>
              </a:r>
              <a:r>
                <a:rPr lang="ko-KR" altLang="en-US" b="1" dirty="0" err="1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스쿱</a:t>
              </a:r>
              <a:r>
                <a:rPr lang="ko-KR" altLang="en-US" b="1" dirty="0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 마켓</a:t>
              </a:r>
              <a:r>
                <a:rPr lang="en-US" altLang="ko-KR" b="1" dirty="0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” </a:t>
              </a:r>
              <a:r>
                <a:rPr lang="ko-KR" altLang="en-US" b="1" dirty="0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추가</a:t>
              </a:r>
              <a:endParaRPr lang="en-US" altLang="ko-KR" b="1" dirty="0">
                <a:solidFill>
                  <a:srgbClr val="0B1929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endParaRPr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ko-KR" altLang="en-US" sz="1600" b="1" dirty="0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콘 → </a:t>
              </a:r>
              <a:r>
                <a:rPr lang="en-US" altLang="ko-KR" sz="1600" b="1" dirty="0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AI</a:t>
              </a:r>
              <a:r>
                <a:rPr lang="ko-KR" altLang="en-US" sz="1600" b="1" dirty="0" err="1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구독권</a:t>
              </a:r>
              <a:r>
                <a:rPr lang="en-US" altLang="ko-KR" sz="1600" b="1" dirty="0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 · </a:t>
              </a:r>
              <a:r>
                <a:rPr lang="ko-KR" altLang="en-US" sz="1600" b="1" dirty="0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식권</a:t>
              </a:r>
              <a:r>
                <a:rPr lang="en-US" altLang="ko-KR" sz="1600" b="1" dirty="0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 · </a:t>
              </a:r>
              <a:r>
                <a:rPr lang="ko-KR" altLang="en-US" sz="1600" b="1" dirty="0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카페</a:t>
              </a:r>
              <a:r>
                <a:rPr lang="en-US" altLang="ko-KR" sz="1600" b="1" dirty="0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 · </a:t>
              </a:r>
              <a:r>
                <a:rPr lang="ko-KR" altLang="en-US" sz="1600" b="1" dirty="0" err="1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기프티콘등</a:t>
              </a:r>
              <a:r>
                <a:rPr lang="ko-KR" altLang="en-US" sz="1600" b="1" dirty="0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 자체 포인트 </a:t>
              </a:r>
              <a:r>
                <a:rPr lang="ko-KR" altLang="en-US" sz="1600" b="1" dirty="0" err="1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소모처</a:t>
              </a:r>
              <a:r>
                <a:rPr lang="ko-KR" altLang="en-US" sz="1600" b="1" dirty="0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 추가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02E11EA7-C53A-0BFB-0F25-555AD9A71330}"/>
              </a:ext>
            </a:extLst>
          </p:cNvPr>
          <p:cNvGrpSpPr/>
          <p:nvPr/>
        </p:nvGrpSpPr>
        <p:grpSpPr>
          <a:xfrm>
            <a:off x="9829800" y="5352379"/>
            <a:ext cx="7446478" cy="850553"/>
            <a:chOff x="1409700" y="4044999"/>
            <a:chExt cx="7446478" cy="850553"/>
          </a:xfrm>
        </p:grpSpPr>
        <p:sp>
          <p:nvSpPr>
            <p:cNvPr id="76" name="Shape 8">
              <a:extLst>
                <a:ext uri="{FF2B5EF4-FFF2-40B4-BE49-F238E27FC236}">
                  <a16:creationId xmlns:a16="http://schemas.microsoft.com/office/drawing/2014/main" id="{A2531419-37B8-3E90-AE69-B11438C64F51}"/>
                </a:ext>
              </a:extLst>
            </p:cNvPr>
            <p:cNvSpPr/>
            <p:nvPr/>
          </p:nvSpPr>
          <p:spPr>
            <a:xfrm>
              <a:off x="1409700" y="4224932"/>
              <a:ext cx="85725" cy="85725"/>
            </a:xfrm>
            <a:prstGeom prst="roundRect">
              <a:avLst>
                <a:gd name="adj" fmla="val 33333"/>
              </a:avLst>
            </a:prstGeom>
            <a:solidFill>
              <a:schemeClr val="accent6"/>
            </a:solidFill>
            <a:ln/>
          </p:spPr>
        </p:sp>
        <p:sp>
          <p:nvSpPr>
            <p:cNvPr id="77" name="Text 9">
              <a:extLst>
                <a:ext uri="{FF2B5EF4-FFF2-40B4-BE49-F238E27FC236}">
                  <a16:creationId xmlns:a16="http://schemas.microsoft.com/office/drawing/2014/main" id="{8E15FE2F-A473-570E-AE0F-44C723D354E3}"/>
                </a:ext>
              </a:extLst>
            </p:cNvPr>
            <p:cNvSpPr/>
            <p:nvPr/>
          </p:nvSpPr>
          <p:spPr>
            <a:xfrm>
              <a:off x="1638299" y="4044999"/>
              <a:ext cx="7217879" cy="850553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ko-KR" altLang="en-US" b="1" dirty="0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도입 진입장벽 최소화 </a:t>
              </a:r>
              <a:endParaRPr lang="en-US" altLang="ko-KR" b="1" dirty="0">
                <a:solidFill>
                  <a:srgbClr val="0B1929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endParaRPr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en-US" altLang="ko-KR" sz="1600" b="1" dirty="0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“</a:t>
              </a:r>
              <a:r>
                <a:rPr lang="ko-KR" altLang="en-US" sz="1600" b="1" dirty="0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콘</a:t>
              </a:r>
              <a:r>
                <a:rPr lang="en-US" altLang="ko-KR" sz="1600" b="1" dirty="0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”</a:t>
              </a:r>
              <a:r>
                <a:rPr lang="ko-KR" altLang="en-US" sz="1600" b="1" dirty="0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과 </a:t>
              </a:r>
              <a:r>
                <a:rPr lang="en-US" altLang="ko-KR" sz="1600" b="1" dirty="0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＂</a:t>
              </a:r>
              <a:r>
                <a:rPr lang="ko-KR" altLang="en-US" sz="1600" b="1" dirty="0" err="1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스쿱</a:t>
              </a:r>
              <a:r>
                <a:rPr lang="ko-KR" altLang="en-US" sz="1600" b="1" dirty="0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 마켓</a:t>
              </a:r>
              <a:r>
                <a:rPr lang="en-US" altLang="ko-KR" sz="1600" b="1" dirty="0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”</a:t>
              </a:r>
              <a:r>
                <a:rPr lang="ko-KR" altLang="en-US" sz="1600" b="1" dirty="0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을 통해 사내 인프라의 의존을 최소화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39947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그룹 68">
            <a:extLst>
              <a:ext uri="{FF2B5EF4-FFF2-40B4-BE49-F238E27FC236}">
                <a16:creationId xmlns:a16="http://schemas.microsoft.com/office/drawing/2014/main" id="{DB845374-1BB8-34EE-AAEB-A561EC08BADD}"/>
              </a:ext>
            </a:extLst>
          </p:cNvPr>
          <p:cNvGrpSpPr/>
          <p:nvPr/>
        </p:nvGrpSpPr>
        <p:grpSpPr>
          <a:xfrm>
            <a:off x="242205" y="314325"/>
            <a:ext cx="2971800" cy="419100"/>
            <a:chOff x="372834" y="218318"/>
            <a:chExt cx="2971800" cy="419100"/>
          </a:xfrm>
        </p:grpSpPr>
        <p:pic>
          <p:nvPicPr>
            <p:cNvPr id="3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2834" y="218318"/>
              <a:ext cx="285750" cy="285750"/>
            </a:xfrm>
            <a:prstGeom prst="rect">
              <a:avLst/>
            </a:prstGeom>
          </p:spPr>
        </p:pic>
        <p:sp>
          <p:nvSpPr>
            <p:cNvPr id="4" name="Text 1"/>
            <p:cNvSpPr/>
            <p:nvPr/>
          </p:nvSpPr>
          <p:spPr>
            <a:xfrm>
              <a:off x="782409" y="242131"/>
              <a:ext cx="2562225" cy="39528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575" b="1" kern="0" spc="-47" dirty="0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타임소프트콘</a:t>
              </a:r>
              <a:endParaRPr lang="en-US" sz="1575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207C4E67-D5E6-0639-105C-9475CC33221B}"/>
              </a:ext>
            </a:extLst>
          </p:cNvPr>
          <p:cNvGrpSpPr/>
          <p:nvPr/>
        </p:nvGrpSpPr>
        <p:grpSpPr>
          <a:xfrm>
            <a:off x="782409" y="1891708"/>
            <a:ext cx="6245326" cy="3891010"/>
            <a:chOff x="775725" y="1987276"/>
            <a:chExt cx="6245326" cy="3891010"/>
          </a:xfrm>
        </p:grpSpPr>
        <p:sp>
          <p:nvSpPr>
            <p:cNvPr id="19" name="Shape 16"/>
            <p:cNvSpPr/>
            <p:nvPr/>
          </p:nvSpPr>
          <p:spPr>
            <a:xfrm>
              <a:off x="811911" y="2360686"/>
              <a:ext cx="6209140" cy="3517600"/>
            </a:xfrm>
            <a:prstGeom prst="roundRect">
              <a:avLst>
                <a:gd name="adj" fmla="val 3002"/>
              </a:avLst>
            </a:prstGeom>
            <a:blipFill>
              <a:blip r:embed="rId4"/>
              <a:stretch>
                <a:fillRect/>
              </a:stretch>
            </a:blipFill>
            <a:ln w="3175">
              <a:solidFill>
                <a:schemeClr val="tx1"/>
              </a:solidFill>
              <a:prstDash val="solid"/>
            </a:ln>
          </p:spPr>
        </p: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A57F2C75-2FB7-6641-0462-807D068023D7}"/>
                </a:ext>
              </a:extLst>
            </p:cNvPr>
            <p:cNvGrpSpPr/>
            <p:nvPr/>
          </p:nvGrpSpPr>
          <p:grpSpPr>
            <a:xfrm>
              <a:off x="775725" y="1987276"/>
              <a:ext cx="4776483" cy="323850"/>
              <a:chOff x="952500" y="4391024"/>
              <a:chExt cx="4776483" cy="323850"/>
            </a:xfrm>
          </p:grpSpPr>
          <p:sp>
            <p:nvSpPr>
              <p:cNvPr id="10" name="Shape 7"/>
              <p:cNvSpPr/>
              <p:nvPr/>
            </p:nvSpPr>
            <p:spPr>
              <a:xfrm>
                <a:off x="990600" y="4400550"/>
                <a:ext cx="285750" cy="285750"/>
              </a:xfrm>
              <a:prstGeom prst="roundRect">
                <a:avLst>
                  <a:gd name="adj" fmla="val 26667"/>
                </a:avLst>
              </a:prstGeom>
              <a:solidFill>
                <a:srgbClr val="EEF4FF"/>
              </a:solidFill>
              <a:ln/>
            </p:spPr>
          </p:sp>
          <p:grpSp>
            <p:nvGrpSpPr>
              <p:cNvPr id="26" name="그룹 25">
                <a:extLst>
                  <a:ext uri="{FF2B5EF4-FFF2-40B4-BE49-F238E27FC236}">
                    <a16:creationId xmlns:a16="http://schemas.microsoft.com/office/drawing/2014/main" id="{0AD55B42-7DAA-E701-D7DE-6EE23709C910}"/>
                  </a:ext>
                </a:extLst>
              </p:cNvPr>
              <p:cNvGrpSpPr/>
              <p:nvPr/>
            </p:nvGrpSpPr>
            <p:grpSpPr>
              <a:xfrm>
                <a:off x="952500" y="4391024"/>
                <a:ext cx="4776483" cy="323850"/>
                <a:chOff x="952500" y="4391024"/>
                <a:chExt cx="4776483" cy="323850"/>
              </a:xfrm>
            </p:grpSpPr>
            <p:sp>
              <p:nvSpPr>
                <p:cNvPr id="11" name="Text 8"/>
                <p:cNvSpPr/>
                <p:nvPr/>
              </p:nvSpPr>
              <p:spPr>
                <a:xfrm>
                  <a:off x="952500" y="4391024"/>
                  <a:ext cx="361950" cy="323850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00" tIns="25400" rIns="25400" bIns="25400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1125" b="1" dirty="0">
                      <a:solidFill>
                        <a:srgbClr val="1B64DA"/>
                      </a:solidFill>
                      <a:latin typeface="Arial" panose="020B0604020202020204" pitchFamily="34" charset="0"/>
                      <a:ea typeface="Arial" pitchFamily="34" charset="-122"/>
                      <a:cs typeface="Arial" panose="020B0604020202020204" pitchFamily="34" charset="0"/>
                    </a:rPr>
                    <a:t>01</a:t>
                  </a:r>
                  <a:endParaRPr lang="en-US" sz="1125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" name="Text 9"/>
                <p:cNvSpPr/>
                <p:nvPr/>
              </p:nvSpPr>
              <p:spPr>
                <a:xfrm>
                  <a:off x="1369944" y="4420633"/>
                  <a:ext cx="4359039" cy="266700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00" tIns="25400" rIns="25400" bIns="25400" rtlCol="0" anchor="t">
                  <a:normAutofit lnSpcReduction="10000"/>
                </a:bodyPr>
                <a:lstStyle/>
                <a:p>
                  <a:pPr marL="0" indent="0" algn="l">
                    <a:buNone/>
                  </a:pPr>
                  <a:r>
                    <a:rPr lang="ko-KR" altLang="en-US" sz="1500" b="1" dirty="0">
                      <a:solidFill>
                        <a:srgbClr val="0B1929"/>
                      </a:solidFill>
                      <a:latin typeface="Arial" panose="020B0604020202020204" pitchFamily="34" charset="0"/>
                      <a:ea typeface="Arial" pitchFamily="34" charset="-122"/>
                      <a:cs typeface="Arial" panose="020B0604020202020204" pitchFamily="34" charset="0"/>
                    </a:rPr>
                    <a:t>메인 화면 </a:t>
                  </a:r>
                  <a:r>
                    <a:rPr lang="ko-KR" altLang="en-US" sz="1000" dirty="0">
                      <a:solidFill>
                        <a:srgbClr val="3B4A5E"/>
                      </a:solidFill>
                      <a:latin typeface="Arial" panose="020B0604020202020204" pitchFamily="34" charset="0"/>
                      <a:ea typeface="Arial" pitchFamily="34" charset="-122"/>
                      <a:cs typeface="Arial" panose="020B0604020202020204" pitchFamily="34" charset="0"/>
                    </a:rPr>
                    <a:t>잔액</a:t>
                  </a:r>
                  <a:r>
                    <a:rPr lang="en-US" altLang="ko-KR" sz="1000" dirty="0">
                      <a:solidFill>
                        <a:srgbClr val="3B4A5E"/>
                      </a:solidFill>
                      <a:latin typeface="Arial" panose="020B0604020202020204" pitchFamily="34" charset="0"/>
                      <a:ea typeface="Arial" pitchFamily="34" charset="-122"/>
                      <a:cs typeface="Arial" panose="020B0604020202020204" pitchFamily="34" charset="0"/>
                    </a:rPr>
                    <a:t>, </a:t>
                  </a:r>
                  <a:r>
                    <a:rPr lang="ko-KR" altLang="en-US" sz="1000" dirty="0">
                      <a:solidFill>
                        <a:srgbClr val="3B4A5E"/>
                      </a:solidFill>
                      <a:latin typeface="Arial" panose="020B0604020202020204" pitchFamily="34" charset="0"/>
                      <a:ea typeface="Arial" pitchFamily="34" charset="-122"/>
                      <a:cs typeface="Arial" panose="020B0604020202020204" pitchFamily="34" charset="0"/>
                    </a:rPr>
                    <a:t>휴가현황조회</a:t>
                  </a:r>
                  <a:r>
                    <a:rPr lang="en-US" altLang="ko-KR" sz="1000" dirty="0">
                      <a:solidFill>
                        <a:srgbClr val="3B4A5E"/>
                      </a:solidFill>
                      <a:latin typeface="Arial" panose="020B0604020202020204" pitchFamily="34" charset="0"/>
                      <a:ea typeface="Arial" pitchFamily="34" charset="-122"/>
                      <a:cs typeface="Arial" panose="020B0604020202020204" pitchFamily="34" charset="0"/>
                    </a:rPr>
                    <a:t>, </a:t>
                  </a:r>
                  <a:r>
                    <a:rPr lang="ko-KR" altLang="en-US" sz="1000" dirty="0">
                      <a:solidFill>
                        <a:srgbClr val="3B4A5E"/>
                      </a:solidFill>
                      <a:latin typeface="Arial" panose="020B0604020202020204" pitchFamily="34" charset="0"/>
                      <a:ea typeface="Arial" pitchFamily="34" charset="-122"/>
                      <a:cs typeface="Arial" panose="020B0604020202020204" pitchFamily="34" charset="0"/>
                    </a:rPr>
                    <a:t>진행 경매 썸네일</a:t>
                  </a:r>
                  <a:endParaRPr lang="en-US" sz="10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</p:grpSp>
      <p:sp>
        <p:nvSpPr>
          <p:cNvPr id="22" name="Text 19"/>
          <p:cNvSpPr/>
          <p:nvPr/>
        </p:nvSpPr>
        <p:spPr>
          <a:xfrm>
            <a:off x="990600" y="9317831"/>
            <a:ext cx="183311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8392A7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타임소프트(주) · 연차 경매 시스템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17410841" y="9810296"/>
            <a:ext cx="23626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4A5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B9866952-46E6-67B4-C408-DE206DE59E52}"/>
              </a:ext>
            </a:extLst>
          </p:cNvPr>
          <p:cNvGrpSpPr/>
          <p:nvPr/>
        </p:nvGrpSpPr>
        <p:grpSpPr>
          <a:xfrm>
            <a:off x="8800353" y="1893600"/>
            <a:ext cx="6246186" cy="3891010"/>
            <a:chOff x="8817725" y="1987276"/>
            <a:chExt cx="6246186" cy="3891010"/>
          </a:xfrm>
        </p:grpSpPr>
        <p:sp>
          <p:nvSpPr>
            <p:cNvPr id="30" name="Shape 16">
              <a:extLst>
                <a:ext uri="{FF2B5EF4-FFF2-40B4-BE49-F238E27FC236}">
                  <a16:creationId xmlns:a16="http://schemas.microsoft.com/office/drawing/2014/main" id="{093C1F6A-A9DD-1488-8692-8DB3C7506DA6}"/>
                </a:ext>
              </a:extLst>
            </p:cNvPr>
            <p:cNvSpPr/>
            <p:nvPr/>
          </p:nvSpPr>
          <p:spPr>
            <a:xfrm>
              <a:off x="8853911" y="2360686"/>
              <a:ext cx="6210000" cy="3517600"/>
            </a:xfrm>
            <a:prstGeom prst="roundRect">
              <a:avLst>
                <a:gd name="adj" fmla="val 3002"/>
              </a:avLst>
            </a:prstGeom>
            <a:blipFill>
              <a:blip r:embed="rId5"/>
              <a:stretch>
                <a:fillRect/>
              </a:stretch>
            </a:blipFill>
            <a:ln w="3175">
              <a:solidFill>
                <a:schemeClr val="tx1"/>
              </a:solidFill>
              <a:prstDash val="solid"/>
            </a:ln>
          </p:spPr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901A98D5-076F-3820-2592-825B0DA0A12F}"/>
                </a:ext>
              </a:extLst>
            </p:cNvPr>
            <p:cNvGrpSpPr/>
            <p:nvPr/>
          </p:nvGrpSpPr>
          <p:grpSpPr>
            <a:xfrm>
              <a:off x="8817725" y="1987276"/>
              <a:ext cx="4776483" cy="323850"/>
              <a:chOff x="952500" y="4391024"/>
              <a:chExt cx="4776483" cy="323850"/>
            </a:xfrm>
          </p:grpSpPr>
          <p:sp>
            <p:nvSpPr>
              <p:cNvPr id="32" name="Shape 7">
                <a:extLst>
                  <a:ext uri="{FF2B5EF4-FFF2-40B4-BE49-F238E27FC236}">
                    <a16:creationId xmlns:a16="http://schemas.microsoft.com/office/drawing/2014/main" id="{447D2F6B-E83C-2EB1-6291-511C48BBB65B}"/>
                  </a:ext>
                </a:extLst>
              </p:cNvPr>
              <p:cNvSpPr/>
              <p:nvPr/>
            </p:nvSpPr>
            <p:spPr>
              <a:xfrm>
                <a:off x="990600" y="4400550"/>
                <a:ext cx="285750" cy="285750"/>
              </a:xfrm>
              <a:prstGeom prst="roundRect">
                <a:avLst>
                  <a:gd name="adj" fmla="val 26667"/>
                </a:avLst>
              </a:prstGeom>
              <a:solidFill>
                <a:srgbClr val="EEF4FF"/>
              </a:solidFill>
              <a:ln/>
            </p:spPr>
          </p:sp>
          <p:grpSp>
            <p:nvGrpSpPr>
              <p:cNvPr id="33" name="그룹 32">
                <a:extLst>
                  <a:ext uri="{FF2B5EF4-FFF2-40B4-BE49-F238E27FC236}">
                    <a16:creationId xmlns:a16="http://schemas.microsoft.com/office/drawing/2014/main" id="{BEF1B88C-7A8E-2303-8CA1-C305EA6FD8B2}"/>
                  </a:ext>
                </a:extLst>
              </p:cNvPr>
              <p:cNvGrpSpPr/>
              <p:nvPr/>
            </p:nvGrpSpPr>
            <p:grpSpPr>
              <a:xfrm>
                <a:off x="952500" y="4391024"/>
                <a:ext cx="4776483" cy="323850"/>
                <a:chOff x="952500" y="4391024"/>
                <a:chExt cx="4776483" cy="323850"/>
              </a:xfrm>
            </p:grpSpPr>
            <p:sp>
              <p:nvSpPr>
                <p:cNvPr id="34" name="Text 8">
                  <a:extLst>
                    <a:ext uri="{FF2B5EF4-FFF2-40B4-BE49-F238E27FC236}">
                      <a16:creationId xmlns:a16="http://schemas.microsoft.com/office/drawing/2014/main" id="{CEC7A874-4422-CF3C-D936-22515A5FA13D}"/>
                    </a:ext>
                  </a:extLst>
                </p:cNvPr>
                <p:cNvSpPr/>
                <p:nvPr/>
              </p:nvSpPr>
              <p:spPr>
                <a:xfrm>
                  <a:off x="952500" y="4391024"/>
                  <a:ext cx="361950" cy="323850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00" tIns="25400" rIns="25400" bIns="25400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1125" b="1" dirty="0">
                      <a:solidFill>
                        <a:srgbClr val="1B64DA"/>
                      </a:solidFill>
                      <a:latin typeface="Arial" panose="020B0604020202020204" pitchFamily="34" charset="0"/>
                      <a:ea typeface="Arial" pitchFamily="34" charset="-122"/>
                      <a:cs typeface="Arial" panose="020B0604020202020204" pitchFamily="34" charset="0"/>
                    </a:rPr>
                    <a:t>02</a:t>
                  </a:r>
                  <a:endParaRPr lang="en-US" sz="1125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5" name="Text 9">
                  <a:extLst>
                    <a:ext uri="{FF2B5EF4-FFF2-40B4-BE49-F238E27FC236}">
                      <a16:creationId xmlns:a16="http://schemas.microsoft.com/office/drawing/2014/main" id="{18522EBA-6567-4321-6ABE-EF80E66B9B18}"/>
                    </a:ext>
                  </a:extLst>
                </p:cNvPr>
                <p:cNvSpPr/>
                <p:nvPr/>
              </p:nvSpPr>
              <p:spPr>
                <a:xfrm>
                  <a:off x="1369944" y="4420633"/>
                  <a:ext cx="4359039" cy="266700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00" tIns="25400" rIns="25400" bIns="25400" rtlCol="0" anchor="t">
                  <a:normAutofit lnSpcReduction="10000"/>
                </a:bodyPr>
                <a:lstStyle/>
                <a:p>
                  <a:pPr marL="0" indent="0" algn="l">
                    <a:buNone/>
                  </a:pPr>
                  <a:r>
                    <a:rPr lang="ko-KR" altLang="en-US" sz="1500" b="1" dirty="0">
                      <a:solidFill>
                        <a:srgbClr val="0B1929"/>
                      </a:solidFill>
                      <a:latin typeface="Arial" panose="020B0604020202020204" pitchFamily="34" charset="0"/>
                      <a:ea typeface="Arial" pitchFamily="34" charset="-122"/>
                      <a:cs typeface="Arial" panose="020B0604020202020204" pitchFamily="34" charset="0"/>
                    </a:rPr>
                    <a:t>연차 경매 </a:t>
                  </a:r>
                  <a:r>
                    <a:rPr lang="en-US" sz="1000" dirty="0" err="1">
                      <a:solidFill>
                        <a:srgbClr val="3B4A5E"/>
                      </a:solidFill>
                      <a:latin typeface="Arial" panose="020B0604020202020204" pitchFamily="34" charset="0"/>
                      <a:ea typeface="Arial" pitchFamily="34" charset="-122"/>
                      <a:cs typeface="Arial" panose="020B0604020202020204" pitchFamily="34" charset="0"/>
                    </a:rPr>
                    <a:t>현재가·잔여</a:t>
                  </a:r>
                  <a:r>
                    <a:rPr lang="en-US" sz="1000" dirty="0">
                      <a:solidFill>
                        <a:srgbClr val="3B4A5E"/>
                      </a:solidFill>
                      <a:latin typeface="Arial" panose="020B0604020202020204" pitchFamily="34" charset="0"/>
                      <a:ea typeface="Arial" pitchFamily="34" charset="-122"/>
                      <a:cs typeface="Arial" panose="020B0604020202020204" pitchFamily="34" charset="0"/>
                    </a:rPr>
                    <a:t> 시간·입찰자 수를 한눈에 표시</a:t>
                  </a:r>
                  <a:endParaRPr lang="en-US" sz="10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71D11791-6EE9-10D8-A067-84D410C150DA}"/>
              </a:ext>
            </a:extLst>
          </p:cNvPr>
          <p:cNvGrpSpPr/>
          <p:nvPr/>
        </p:nvGrpSpPr>
        <p:grpSpPr>
          <a:xfrm>
            <a:off x="782409" y="6026443"/>
            <a:ext cx="6246186" cy="3891010"/>
            <a:chOff x="772253" y="6177109"/>
            <a:chExt cx="6246186" cy="3891010"/>
          </a:xfrm>
        </p:grpSpPr>
        <p:sp>
          <p:nvSpPr>
            <p:cNvPr id="44" name="Shape 16">
              <a:extLst>
                <a:ext uri="{FF2B5EF4-FFF2-40B4-BE49-F238E27FC236}">
                  <a16:creationId xmlns:a16="http://schemas.microsoft.com/office/drawing/2014/main" id="{BCE13200-E535-0A17-8B10-31FF79154262}"/>
                </a:ext>
              </a:extLst>
            </p:cNvPr>
            <p:cNvSpPr/>
            <p:nvPr/>
          </p:nvSpPr>
          <p:spPr>
            <a:xfrm>
              <a:off x="808439" y="6550519"/>
              <a:ext cx="6210000" cy="3517600"/>
            </a:xfrm>
            <a:prstGeom prst="roundRect">
              <a:avLst>
                <a:gd name="adj" fmla="val 3002"/>
              </a:avLst>
            </a:prstGeom>
            <a:blipFill>
              <a:blip r:embed="rId6"/>
              <a:stretch>
                <a:fillRect/>
              </a:stretch>
            </a:blipFill>
            <a:ln w="3175">
              <a:solidFill>
                <a:schemeClr val="tx1"/>
              </a:solidFill>
              <a:prstDash val="solid"/>
            </a:ln>
          </p:spPr>
        </p: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44B2281A-3D85-A74F-5F87-D87522E8C553}"/>
                </a:ext>
              </a:extLst>
            </p:cNvPr>
            <p:cNvGrpSpPr/>
            <p:nvPr/>
          </p:nvGrpSpPr>
          <p:grpSpPr>
            <a:xfrm>
              <a:off x="772253" y="6177109"/>
              <a:ext cx="4776483" cy="323850"/>
              <a:chOff x="952500" y="4391024"/>
              <a:chExt cx="4776483" cy="323850"/>
            </a:xfrm>
          </p:grpSpPr>
          <p:sp>
            <p:nvSpPr>
              <p:cNvPr id="46" name="Shape 7">
                <a:extLst>
                  <a:ext uri="{FF2B5EF4-FFF2-40B4-BE49-F238E27FC236}">
                    <a16:creationId xmlns:a16="http://schemas.microsoft.com/office/drawing/2014/main" id="{E409FACC-2FEB-B310-41A0-5482E2E8FA26}"/>
                  </a:ext>
                </a:extLst>
              </p:cNvPr>
              <p:cNvSpPr/>
              <p:nvPr/>
            </p:nvSpPr>
            <p:spPr>
              <a:xfrm>
                <a:off x="990600" y="4400550"/>
                <a:ext cx="285750" cy="285750"/>
              </a:xfrm>
              <a:prstGeom prst="roundRect">
                <a:avLst>
                  <a:gd name="adj" fmla="val 26667"/>
                </a:avLst>
              </a:prstGeom>
              <a:solidFill>
                <a:srgbClr val="EEF4FF"/>
              </a:solidFill>
              <a:ln/>
            </p:spPr>
          </p:sp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id="{87CAB523-374B-AF60-8703-C8FF0D386105}"/>
                  </a:ext>
                </a:extLst>
              </p:cNvPr>
              <p:cNvGrpSpPr/>
              <p:nvPr/>
            </p:nvGrpSpPr>
            <p:grpSpPr>
              <a:xfrm>
                <a:off x="952500" y="4391024"/>
                <a:ext cx="4776483" cy="323850"/>
                <a:chOff x="952500" y="4391024"/>
                <a:chExt cx="4776483" cy="323850"/>
              </a:xfrm>
            </p:grpSpPr>
            <p:sp>
              <p:nvSpPr>
                <p:cNvPr id="48" name="Text 8">
                  <a:extLst>
                    <a:ext uri="{FF2B5EF4-FFF2-40B4-BE49-F238E27FC236}">
                      <a16:creationId xmlns:a16="http://schemas.microsoft.com/office/drawing/2014/main" id="{B1D4BD96-436A-18CB-0914-A201917A3041}"/>
                    </a:ext>
                  </a:extLst>
                </p:cNvPr>
                <p:cNvSpPr/>
                <p:nvPr/>
              </p:nvSpPr>
              <p:spPr>
                <a:xfrm>
                  <a:off x="952500" y="4391024"/>
                  <a:ext cx="361950" cy="323850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00" tIns="25400" rIns="25400" bIns="25400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1125" b="1" dirty="0">
                      <a:solidFill>
                        <a:srgbClr val="1B64DA"/>
                      </a:solidFill>
                      <a:latin typeface="Arial" panose="020B0604020202020204" pitchFamily="34" charset="0"/>
                      <a:ea typeface="Arial" pitchFamily="34" charset="-122"/>
                      <a:cs typeface="Arial" panose="020B0604020202020204" pitchFamily="34" charset="0"/>
                    </a:rPr>
                    <a:t>03</a:t>
                  </a:r>
                </a:p>
              </p:txBody>
            </p:sp>
            <p:sp>
              <p:nvSpPr>
                <p:cNvPr id="49" name="Text 9">
                  <a:extLst>
                    <a:ext uri="{FF2B5EF4-FFF2-40B4-BE49-F238E27FC236}">
                      <a16:creationId xmlns:a16="http://schemas.microsoft.com/office/drawing/2014/main" id="{7964F413-BDCB-7293-A0F6-66F5D6BDB090}"/>
                    </a:ext>
                  </a:extLst>
                </p:cNvPr>
                <p:cNvSpPr/>
                <p:nvPr/>
              </p:nvSpPr>
              <p:spPr>
                <a:xfrm>
                  <a:off x="1369944" y="4420633"/>
                  <a:ext cx="4359039" cy="266700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00" tIns="25400" rIns="25400" bIns="25400" rtlCol="0" anchor="t">
                  <a:normAutofit lnSpcReduction="10000"/>
                </a:bodyPr>
                <a:lstStyle/>
                <a:p>
                  <a:pPr marL="0" indent="0" algn="l">
                    <a:buNone/>
                  </a:pPr>
                  <a:r>
                    <a:rPr lang="ko-KR" altLang="en-US" sz="1500" b="1" dirty="0">
                      <a:solidFill>
                        <a:srgbClr val="0B1929"/>
                      </a:solidFill>
                      <a:latin typeface="Arial" panose="020B0604020202020204" pitchFamily="34" charset="0"/>
                      <a:ea typeface="Arial" pitchFamily="34" charset="-122"/>
                      <a:cs typeface="Arial" panose="020B0604020202020204" pitchFamily="34" charset="0"/>
                    </a:rPr>
                    <a:t>연말 배당 </a:t>
                  </a:r>
                  <a:r>
                    <a:rPr lang="ko-KR" altLang="en-US" sz="1000" dirty="0">
                      <a:solidFill>
                        <a:srgbClr val="3B4A5E"/>
                      </a:solidFill>
                      <a:latin typeface="Arial" panose="020B0604020202020204" pitchFamily="34" charset="0"/>
                      <a:ea typeface="Arial" pitchFamily="34" charset="-122"/>
                      <a:cs typeface="Arial" panose="020B0604020202020204" pitchFamily="34" charset="0"/>
                    </a:rPr>
                    <a:t>기여도</a:t>
                  </a:r>
                  <a:r>
                    <a:rPr lang="en-US" altLang="ko-KR" sz="1000" dirty="0">
                      <a:solidFill>
                        <a:srgbClr val="3B4A5E"/>
                      </a:solidFill>
                      <a:latin typeface="Arial" panose="020B0604020202020204" pitchFamily="34" charset="0"/>
                      <a:ea typeface="Arial" pitchFamily="34" charset="-122"/>
                      <a:cs typeface="Arial" panose="020B0604020202020204" pitchFamily="34" charset="0"/>
                    </a:rPr>
                    <a:t>, </a:t>
                  </a:r>
                  <a:r>
                    <a:rPr lang="ko-KR" altLang="en-US" sz="1000" dirty="0">
                      <a:solidFill>
                        <a:srgbClr val="3B4A5E"/>
                      </a:solidFill>
                      <a:latin typeface="Arial" panose="020B0604020202020204" pitchFamily="34" charset="0"/>
                      <a:ea typeface="Arial" pitchFamily="34" charset="-122"/>
                      <a:cs typeface="Arial" panose="020B0604020202020204" pitchFamily="34" charset="0"/>
                    </a:rPr>
                    <a:t>예상 정산금액 조회</a:t>
                  </a:r>
                  <a:endParaRPr lang="en-US" sz="10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3299C02C-D2E1-6478-D98E-9C17EC2E5483}"/>
              </a:ext>
            </a:extLst>
          </p:cNvPr>
          <p:cNvGrpSpPr/>
          <p:nvPr/>
        </p:nvGrpSpPr>
        <p:grpSpPr>
          <a:xfrm>
            <a:off x="8802000" y="6026400"/>
            <a:ext cx="6246186" cy="3891010"/>
            <a:chOff x="8817725" y="6147500"/>
            <a:chExt cx="6246186" cy="3891010"/>
          </a:xfrm>
        </p:grpSpPr>
        <p:sp>
          <p:nvSpPr>
            <p:cNvPr id="51" name="Shape 16">
              <a:extLst>
                <a:ext uri="{FF2B5EF4-FFF2-40B4-BE49-F238E27FC236}">
                  <a16:creationId xmlns:a16="http://schemas.microsoft.com/office/drawing/2014/main" id="{9EDF01DB-A712-8DB6-93AA-B03E6DC0D744}"/>
                </a:ext>
              </a:extLst>
            </p:cNvPr>
            <p:cNvSpPr/>
            <p:nvPr/>
          </p:nvSpPr>
          <p:spPr>
            <a:xfrm>
              <a:off x="8853911" y="6520910"/>
              <a:ext cx="6210000" cy="3517600"/>
            </a:xfrm>
            <a:prstGeom prst="roundRect">
              <a:avLst>
                <a:gd name="adj" fmla="val 3002"/>
              </a:avLst>
            </a:prstGeom>
            <a:blipFill>
              <a:blip r:embed="rId7"/>
              <a:stretch>
                <a:fillRect/>
              </a:stretch>
            </a:blipFill>
            <a:ln w="3175">
              <a:solidFill>
                <a:schemeClr val="tx1"/>
              </a:solidFill>
              <a:prstDash val="solid"/>
            </a:ln>
          </p:spPr>
        </p: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D8A49168-81F2-89D8-6F48-9AA051309EB9}"/>
                </a:ext>
              </a:extLst>
            </p:cNvPr>
            <p:cNvGrpSpPr/>
            <p:nvPr/>
          </p:nvGrpSpPr>
          <p:grpSpPr>
            <a:xfrm>
              <a:off x="8817725" y="6147500"/>
              <a:ext cx="4776483" cy="323850"/>
              <a:chOff x="952500" y="4391024"/>
              <a:chExt cx="4776483" cy="323850"/>
            </a:xfrm>
          </p:grpSpPr>
          <p:sp>
            <p:nvSpPr>
              <p:cNvPr id="53" name="Shape 7">
                <a:extLst>
                  <a:ext uri="{FF2B5EF4-FFF2-40B4-BE49-F238E27FC236}">
                    <a16:creationId xmlns:a16="http://schemas.microsoft.com/office/drawing/2014/main" id="{C3145B00-FCBE-0805-7F63-C02DA74ACA19}"/>
                  </a:ext>
                </a:extLst>
              </p:cNvPr>
              <p:cNvSpPr/>
              <p:nvPr/>
            </p:nvSpPr>
            <p:spPr>
              <a:xfrm>
                <a:off x="990600" y="4400550"/>
                <a:ext cx="285750" cy="285750"/>
              </a:xfrm>
              <a:prstGeom prst="roundRect">
                <a:avLst>
                  <a:gd name="adj" fmla="val 26667"/>
                </a:avLst>
              </a:prstGeom>
              <a:solidFill>
                <a:srgbClr val="EEF4FF"/>
              </a:solidFill>
              <a:ln/>
            </p:spPr>
          </p:sp>
          <p:grpSp>
            <p:nvGrpSpPr>
              <p:cNvPr id="54" name="그룹 53">
                <a:extLst>
                  <a:ext uri="{FF2B5EF4-FFF2-40B4-BE49-F238E27FC236}">
                    <a16:creationId xmlns:a16="http://schemas.microsoft.com/office/drawing/2014/main" id="{5E666A68-D0E5-9B10-DA18-8BE2E9DA033B}"/>
                  </a:ext>
                </a:extLst>
              </p:cNvPr>
              <p:cNvGrpSpPr/>
              <p:nvPr/>
            </p:nvGrpSpPr>
            <p:grpSpPr>
              <a:xfrm>
                <a:off x="952500" y="4391024"/>
                <a:ext cx="4776483" cy="323850"/>
                <a:chOff x="952500" y="4391024"/>
                <a:chExt cx="4776483" cy="323850"/>
              </a:xfrm>
            </p:grpSpPr>
            <p:sp>
              <p:nvSpPr>
                <p:cNvPr id="55" name="Text 8">
                  <a:extLst>
                    <a:ext uri="{FF2B5EF4-FFF2-40B4-BE49-F238E27FC236}">
                      <a16:creationId xmlns:a16="http://schemas.microsoft.com/office/drawing/2014/main" id="{12FCCE56-3D88-E310-B036-D3BCFB4A85AD}"/>
                    </a:ext>
                  </a:extLst>
                </p:cNvPr>
                <p:cNvSpPr/>
                <p:nvPr/>
              </p:nvSpPr>
              <p:spPr>
                <a:xfrm>
                  <a:off x="952500" y="4391024"/>
                  <a:ext cx="361950" cy="323850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00" tIns="25400" rIns="25400" bIns="25400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1125" b="1" dirty="0">
                      <a:solidFill>
                        <a:srgbClr val="1B64DA"/>
                      </a:solidFill>
                      <a:latin typeface="Arial" panose="020B0604020202020204" pitchFamily="34" charset="0"/>
                      <a:ea typeface="Arial" pitchFamily="34" charset="-122"/>
                      <a:cs typeface="Arial" panose="020B0604020202020204" pitchFamily="34" charset="0"/>
                    </a:rPr>
                    <a:t>04</a:t>
                  </a:r>
                  <a:endParaRPr lang="en-US" sz="1125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6" name="Text 9">
                  <a:extLst>
                    <a:ext uri="{FF2B5EF4-FFF2-40B4-BE49-F238E27FC236}">
                      <a16:creationId xmlns:a16="http://schemas.microsoft.com/office/drawing/2014/main" id="{1F74B97F-8AD3-BEF7-7B27-BC0DC1085AB1}"/>
                    </a:ext>
                  </a:extLst>
                </p:cNvPr>
                <p:cNvSpPr/>
                <p:nvPr/>
              </p:nvSpPr>
              <p:spPr>
                <a:xfrm>
                  <a:off x="1369944" y="4420633"/>
                  <a:ext cx="4359039" cy="266700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00" tIns="25400" rIns="25400" bIns="25400" rtlCol="0" anchor="t">
                  <a:normAutofit lnSpcReduction="10000"/>
                </a:bodyPr>
                <a:lstStyle/>
                <a:p>
                  <a:pPr marL="0" indent="0" algn="l">
                    <a:buNone/>
                  </a:pPr>
                  <a:r>
                    <a:rPr lang="ko-KR" altLang="en-US" sz="1500" b="1" dirty="0" err="1">
                      <a:solidFill>
                        <a:srgbClr val="0B1929"/>
                      </a:solidFill>
                      <a:latin typeface="Arial" panose="020B0604020202020204" pitchFamily="34" charset="0"/>
                      <a:ea typeface="Arial" pitchFamily="34" charset="-122"/>
                      <a:cs typeface="Arial" panose="020B0604020202020204" pitchFamily="34" charset="0"/>
                    </a:rPr>
                    <a:t>스쿱</a:t>
                  </a:r>
                  <a:r>
                    <a:rPr lang="ko-KR" altLang="en-US" sz="1500" b="1" dirty="0">
                      <a:solidFill>
                        <a:srgbClr val="0B1929"/>
                      </a:solidFill>
                      <a:latin typeface="Arial" panose="020B0604020202020204" pitchFamily="34" charset="0"/>
                      <a:ea typeface="Arial" pitchFamily="34" charset="-122"/>
                      <a:cs typeface="Arial" panose="020B0604020202020204" pitchFamily="34" charset="0"/>
                    </a:rPr>
                    <a:t> 마켓 </a:t>
                  </a:r>
                  <a:r>
                    <a:rPr lang="ko-KR" altLang="en-US" sz="1000" dirty="0">
                      <a:solidFill>
                        <a:srgbClr val="3B4A5E"/>
                      </a:solidFill>
                      <a:latin typeface="Arial" panose="020B0604020202020204" pitchFamily="34" charset="0"/>
                      <a:ea typeface="Arial" pitchFamily="34" charset="-122"/>
                      <a:cs typeface="Arial" panose="020B0604020202020204" pitchFamily="34" charset="0"/>
                    </a:rPr>
                    <a:t>경매를 통해 얻은 콘을 활용하여 다양한 상품 구매</a:t>
                  </a:r>
                  <a:endParaRPr lang="en-US" sz="10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C4F8061A-6CF4-7C14-E20E-453DB9531BBA}"/>
              </a:ext>
            </a:extLst>
          </p:cNvPr>
          <p:cNvGrpSpPr/>
          <p:nvPr/>
        </p:nvGrpSpPr>
        <p:grpSpPr>
          <a:xfrm>
            <a:off x="598056" y="839046"/>
            <a:ext cx="16796004" cy="1003102"/>
            <a:chOff x="990600" y="1581150"/>
            <a:chExt cx="16796004" cy="1003102"/>
          </a:xfrm>
        </p:grpSpPr>
        <p:sp>
          <p:nvSpPr>
            <p:cNvPr id="6" name="Text 3"/>
            <p:cNvSpPr/>
            <p:nvPr/>
          </p:nvSpPr>
          <p:spPr>
            <a:xfrm>
              <a:off x="990600" y="1581150"/>
              <a:ext cx="16796004" cy="2286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275" b="1" kern="0" spc="188" dirty="0">
                  <a:solidFill>
                    <a:srgbClr val="1B64DA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PREVIEW · 핵심 기능</a:t>
              </a:r>
              <a:endParaRPr lang="en-US" sz="1275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Text 4">
              <a:extLst>
                <a:ext uri="{FF2B5EF4-FFF2-40B4-BE49-F238E27FC236}">
                  <a16:creationId xmlns:a16="http://schemas.microsoft.com/office/drawing/2014/main" id="{19C28073-1FD1-C0E7-0E3C-0CC14412FADF}"/>
                </a:ext>
              </a:extLst>
            </p:cNvPr>
            <p:cNvSpPr/>
            <p:nvPr/>
          </p:nvSpPr>
          <p:spPr>
            <a:xfrm>
              <a:off x="990600" y="1905000"/>
              <a:ext cx="16796004" cy="67925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lnSpc>
                  <a:spcPct val="102000"/>
                </a:lnSpc>
                <a:buNone/>
              </a:pPr>
              <a:r>
                <a:rPr lang="ko-KR" altLang="en-US" sz="4950" b="1" kern="0" spc="-173" dirty="0">
                  <a:solidFill>
                    <a:srgbClr val="0B192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사용자 기능 미리보기</a:t>
              </a:r>
              <a:endParaRPr lang="en-US" sz="49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그룹 68">
            <a:extLst>
              <a:ext uri="{FF2B5EF4-FFF2-40B4-BE49-F238E27FC236}">
                <a16:creationId xmlns:a16="http://schemas.microsoft.com/office/drawing/2014/main" id="{DB845374-1BB8-34EE-AAEB-A561EC08BADD}"/>
              </a:ext>
            </a:extLst>
          </p:cNvPr>
          <p:cNvGrpSpPr/>
          <p:nvPr/>
        </p:nvGrpSpPr>
        <p:grpSpPr>
          <a:xfrm>
            <a:off x="242205" y="314325"/>
            <a:ext cx="2971800" cy="419100"/>
            <a:chOff x="372834" y="218318"/>
            <a:chExt cx="2971800" cy="419100"/>
          </a:xfrm>
        </p:grpSpPr>
        <p:pic>
          <p:nvPicPr>
            <p:cNvPr id="3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2834" y="218318"/>
              <a:ext cx="285750" cy="285750"/>
            </a:xfrm>
            <a:prstGeom prst="rect">
              <a:avLst/>
            </a:prstGeom>
          </p:spPr>
        </p:pic>
        <p:sp>
          <p:nvSpPr>
            <p:cNvPr id="4" name="Text 1"/>
            <p:cNvSpPr/>
            <p:nvPr/>
          </p:nvSpPr>
          <p:spPr>
            <a:xfrm>
              <a:off x="782409" y="242131"/>
              <a:ext cx="2562225" cy="39528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575" b="1" kern="0" spc="-47" dirty="0">
                  <a:solidFill>
                    <a:srgbClr val="0B1929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타임소프트콘</a:t>
              </a:r>
              <a:endParaRPr lang="en-US" sz="1575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2" name="Text 19"/>
          <p:cNvSpPr/>
          <p:nvPr/>
        </p:nvSpPr>
        <p:spPr>
          <a:xfrm>
            <a:off x="990600" y="9317831"/>
            <a:ext cx="183311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8392A7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타임소프트(주) · 연차 경매 시스템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17410841" y="9810296"/>
            <a:ext cx="23626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4A5E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04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C4F8061A-6CF4-7C14-E20E-453DB9531BBA}"/>
              </a:ext>
            </a:extLst>
          </p:cNvPr>
          <p:cNvGrpSpPr/>
          <p:nvPr/>
        </p:nvGrpSpPr>
        <p:grpSpPr>
          <a:xfrm>
            <a:off x="598056" y="839046"/>
            <a:ext cx="16796004" cy="1003102"/>
            <a:chOff x="990600" y="1581150"/>
            <a:chExt cx="16796004" cy="1003102"/>
          </a:xfrm>
        </p:grpSpPr>
        <p:sp>
          <p:nvSpPr>
            <p:cNvPr id="6" name="Text 3"/>
            <p:cNvSpPr/>
            <p:nvPr/>
          </p:nvSpPr>
          <p:spPr>
            <a:xfrm>
              <a:off x="990600" y="1581150"/>
              <a:ext cx="16796004" cy="2286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altLang="ko-KR" sz="1275" b="1" kern="0" spc="188" dirty="0">
                  <a:solidFill>
                    <a:srgbClr val="1B64DA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PREVIEW</a:t>
              </a:r>
              <a:r>
                <a:rPr lang="en-US" sz="1275" b="1" kern="0" spc="188" dirty="0">
                  <a:solidFill>
                    <a:srgbClr val="1B64DA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 · 핵심 기능</a:t>
              </a:r>
              <a:endParaRPr lang="en-US" sz="1275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Text 4">
              <a:extLst>
                <a:ext uri="{FF2B5EF4-FFF2-40B4-BE49-F238E27FC236}">
                  <a16:creationId xmlns:a16="http://schemas.microsoft.com/office/drawing/2014/main" id="{19C28073-1FD1-C0E7-0E3C-0CC14412FADF}"/>
                </a:ext>
              </a:extLst>
            </p:cNvPr>
            <p:cNvSpPr/>
            <p:nvPr/>
          </p:nvSpPr>
          <p:spPr>
            <a:xfrm>
              <a:off x="990600" y="1905000"/>
              <a:ext cx="16796004" cy="67925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lnSpc>
                  <a:spcPct val="102000"/>
                </a:lnSpc>
                <a:buNone/>
              </a:pPr>
              <a:r>
                <a:rPr lang="ko-KR" altLang="en-US" sz="4950" b="1" kern="0" spc="-173" dirty="0">
                  <a:solidFill>
                    <a:srgbClr val="0B192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관리자 기능 미리보기</a:t>
              </a:r>
              <a:endParaRPr lang="en-US" sz="49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7AEA8E07-C0A7-22D3-0453-626DE207D3CF}"/>
              </a:ext>
            </a:extLst>
          </p:cNvPr>
          <p:cNvGrpSpPr/>
          <p:nvPr/>
        </p:nvGrpSpPr>
        <p:grpSpPr>
          <a:xfrm>
            <a:off x="782409" y="1893600"/>
            <a:ext cx="6245326" cy="3891010"/>
            <a:chOff x="775725" y="1987276"/>
            <a:chExt cx="6245326" cy="3891010"/>
          </a:xfrm>
        </p:grpSpPr>
        <p:sp>
          <p:nvSpPr>
            <p:cNvPr id="7" name="Shape 16">
              <a:extLst>
                <a:ext uri="{FF2B5EF4-FFF2-40B4-BE49-F238E27FC236}">
                  <a16:creationId xmlns:a16="http://schemas.microsoft.com/office/drawing/2014/main" id="{D0D3DE83-C195-56DA-6BD8-338D6B3F1925}"/>
                </a:ext>
              </a:extLst>
            </p:cNvPr>
            <p:cNvSpPr/>
            <p:nvPr/>
          </p:nvSpPr>
          <p:spPr>
            <a:xfrm>
              <a:off x="811911" y="2360686"/>
              <a:ext cx="6209140" cy="3517600"/>
            </a:xfrm>
            <a:prstGeom prst="roundRect">
              <a:avLst>
                <a:gd name="adj" fmla="val 3002"/>
              </a:avLst>
            </a:prstGeom>
            <a:blipFill>
              <a:blip r:embed="rId4"/>
              <a:stretch>
                <a:fillRect/>
              </a:stretch>
            </a:blipFill>
            <a:ln w="3175">
              <a:solidFill>
                <a:schemeClr val="tx1"/>
              </a:solidFill>
              <a:prstDash val="solid"/>
            </a:ln>
          </p:spPr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0C09B9FE-E8C2-DA24-97F9-26F5D91B6F00}"/>
                </a:ext>
              </a:extLst>
            </p:cNvPr>
            <p:cNvGrpSpPr/>
            <p:nvPr/>
          </p:nvGrpSpPr>
          <p:grpSpPr>
            <a:xfrm>
              <a:off x="775725" y="1987276"/>
              <a:ext cx="4776483" cy="323850"/>
              <a:chOff x="952500" y="4391024"/>
              <a:chExt cx="4776483" cy="323850"/>
            </a:xfrm>
          </p:grpSpPr>
          <p:sp>
            <p:nvSpPr>
              <p:cNvPr id="9" name="Shape 7">
                <a:extLst>
                  <a:ext uri="{FF2B5EF4-FFF2-40B4-BE49-F238E27FC236}">
                    <a16:creationId xmlns:a16="http://schemas.microsoft.com/office/drawing/2014/main" id="{BB54018A-7B64-AF93-4291-B2572D30DE02}"/>
                  </a:ext>
                </a:extLst>
              </p:cNvPr>
              <p:cNvSpPr/>
              <p:nvPr/>
            </p:nvSpPr>
            <p:spPr>
              <a:xfrm>
                <a:off x="990600" y="4400550"/>
                <a:ext cx="285750" cy="285750"/>
              </a:xfrm>
              <a:prstGeom prst="roundRect">
                <a:avLst>
                  <a:gd name="adj" fmla="val 26667"/>
                </a:avLst>
              </a:prstGeom>
              <a:solidFill>
                <a:srgbClr val="EEF4FF"/>
              </a:solidFill>
              <a:ln/>
            </p:spPr>
          </p:sp>
          <p:grpSp>
            <p:nvGrpSpPr>
              <p:cNvPr id="13" name="그룹 12">
                <a:extLst>
                  <a:ext uri="{FF2B5EF4-FFF2-40B4-BE49-F238E27FC236}">
                    <a16:creationId xmlns:a16="http://schemas.microsoft.com/office/drawing/2014/main" id="{72835FB0-08AE-4A9C-DE26-583E47F3741C}"/>
                  </a:ext>
                </a:extLst>
              </p:cNvPr>
              <p:cNvGrpSpPr/>
              <p:nvPr/>
            </p:nvGrpSpPr>
            <p:grpSpPr>
              <a:xfrm>
                <a:off x="952500" y="4391024"/>
                <a:ext cx="4776483" cy="323850"/>
                <a:chOff x="952500" y="4391024"/>
                <a:chExt cx="4776483" cy="323850"/>
              </a:xfrm>
            </p:grpSpPr>
            <p:sp>
              <p:nvSpPr>
                <p:cNvPr id="14" name="Text 8">
                  <a:extLst>
                    <a:ext uri="{FF2B5EF4-FFF2-40B4-BE49-F238E27FC236}">
                      <a16:creationId xmlns:a16="http://schemas.microsoft.com/office/drawing/2014/main" id="{955216D7-0B88-1C46-585B-AF3386411652}"/>
                    </a:ext>
                  </a:extLst>
                </p:cNvPr>
                <p:cNvSpPr/>
                <p:nvPr/>
              </p:nvSpPr>
              <p:spPr>
                <a:xfrm>
                  <a:off x="952500" y="4391024"/>
                  <a:ext cx="361950" cy="323850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00" tIns="25400" rIns="25400" bIns="25400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1125" b="1" dirty="0">
                      <a:solidFill>
                        <a:srgbClr val="1B64DA"/>
                      </a:solidFill>
                      <a:latin typeface="Arial" panose="020B0604020202020204" pitchFamily="34" charset="0"/>
                      <a:ea typeface="Arial" pitchFamily="34" charset="-122"/>
                      <a:cs typeface="Arial" panose="020B0604020202020204" pitchFamily="34" charset="0"/>
                    </a:rPr>
                    <a:t>01</a:t>
                  </a:r>
                  <a:endParaRPr lang="en-US" sz="1125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" name="Text 9">
                  <a:extLst>
                    <a:ext uri="{FF2B5EF4-FFF2-40B4-BE49-F238E27FC236}">
                      <a16:creationId xmlns:a16="http://schemas.microsoft.com/office/drawing/2014/main" id="{95F66F26-39E2-0C25-0E47-CE4165965EB9}"/>
                    </a:ext>
                  </a:extLst>
                </p:cNvPr>
                <p:cNvSpPr/>
                <p:nvPr/>
              </p:nvSpPr>
              <p:spPr>
                <a:xfrm>
                  <a:off x="1369944" y="4420633"/>
                  <a:ext cx="4359039" cy="266700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00" tIns="25400" rIns="25400" bIns="25400" rtlCol="0" anchor="t">
                  <a:normAutofit lnSpcReduction="10000"/>
                </a:bodyPr>
                <a:lstStyle/>
                <a:p>
                  <a:pPr marL="0" indent="0" algn="l">
                    <a:buNone/>
                  </a:pPr>
                  <a:r>
                    <a:rPr lang="ko-KR" altLang="en-US" sz="1500" b="1" dirty="0">
                      <a:solidFill>
                        <a:srgbClr val="0B1929"/>
                      </a:solidFill>
                      <a:latin typeface="Arial" panose="020B0604020202020204" pitchFamily="34" charset="0"/>
                      <a:ea typeface="Arial" pitchFamily="34" charset="-122"/>
                      <a:cs typeface="Arial" panose="020B0604020202020204" pitchFamily="34" charset="0"/>
                    </a:rPr>
                    <a:t>운영 관리 </a:t>
                  </a:r>
                  <a:r>
                    <a:rPr lang="en-US" altLang="ko-KR" sz="1000" dirty="0">
                      <a:solidFill>
                        <a:srgbClr val="3B4A5E"/>
                      </a:solidFill>
                      <a:latin typeface="Arial" panose="020B0604020202020204" pitchFamily="34" charset="0"/>
                      <a:ea typeface="Arial" pitchFamily="34" charset="-122"/>
                      <a:cs typeface="Arial" panose="020B0604020202020204" pitchFamily="34" charset="0"/>
                    </a:rPr>
                    <a:t>Escrow</a:t>
                  </a:r>
                  <a:r>
                    <a:rPr lang="ko-KR" altLang="en-US" sz="1000" dirty="0">
                      <a:solidFill>
                        <a:srgbClr val="3B4A5E"/>
                      </a:solidFill>
                      <a:latin typeface="Arial" panose="020B0604020202020204" pitchFamily="34" charset="0"/>
                      <a:ea typeface="Arial" pitchFamily="34" charset="-122"/>
                      <a:cs typeface="Arial" panose="020B0604020202020204" pitchFamily="34" charset="0"/>
                    </a:rPr>
                    <a:t>잔액</a:t>
                  </a:r>
                  <a:r>
                    <a:rPr lang="en-US" altLang="ko-KR" sz="1000" dirty="0">
                      <a:solidFill>
                        <a:srgbClr val="3B4A5E"/>
                      </a:solidFill>
                      <a:latin typeface="Arial" panose="020B0604020202020204" pitchFamily="34" charset="0"/>
                      <a:ea typeface="Arial" pitchFamily="34" charset="-122"/>
                      <a:cs typeface="Arial" panose="020B0604020202020204" pitchFamily="34" charset="0"/>
                    </a:rPr>
                    <a:t>, </a:t>
                  </a:r>
                  <a:r>
                    <a:rPr lang="ko-KR" altLang="en-US" sz="1000" dirty="0">
                      <a:solidFill>
                        <a:srgbClr val="3B4A5E"/>
                      </a:solidFill>
                      <a:latin typeface="Arial" panose="020B0604020202020204" pitchFamily="34" charset="0"/>
                      <a:ea typeface="Arial" pitchFamily="34" charset="-122"/>
                      <a:cs typeface="Arial" panose="020B0604020202020204" pitchFamily="34" charset="0"/>
                    </a:rPr>
                    <a:t>경매 진행 현황</a:t>
                  </a:r>
                  <a:r>
                    <a:rPr lang="en-US" altLang="ko-KR" sz="1000" dirty="0">
                      <a:solidFill>
                        <a:srgbClr val="3B4A5E"/>
                      </a:solidFill>
                      <a:latin typeface="Arial" panose="020B0604020202020204" pitchFamily="34" charset="0"/>
                      <a:ea typeface="Arial" pitchFamily="34" charset="-122"/>
                      <a:cs typeface="Arial" panose="020B0604020202020204" pitchFamily="34" charset="0"/>
                    </a:rPr>
                    <a:t>, </a:t>
                  </a:r>
                  <a:r>
                    <a:rPr lang="ko-KR" altLang="en-US" sz="1000" dirty="0">
                      <a:solidFill>
                        <a:srgbClr val="3B4A5E"/>
                      </a:solidFill>
                      <a:latin typeface="Arial" panose="020B0604020202020204" pitchFamily="34" charset="0"/>
                      <a:ea typeface="Arial" pitchFamily="34" charset="-122"/>
                      <a:cs typeface="Arial" panose="020B0604020202020204" pitchFamily="34" charset="0"/>
                    </a:rPr>
                    <a:t>정산 데이터 내보내기</a:t>
                  </a:r>
                  <a:endParaRPr lang="en-US" sz="10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E6B93E04-1B09-7EC3-A5CB-DC6CC522000D}"/>
              </a:ext>
            </a:extLst>
          </p:cNvPr>
          <p:cNvGrpSpPr/>
          <p:nvPr/>
        </p:nvGrpSpPr>
        <p:grpSpPr>
          <a:xfrm>
            <a:off x="8800353" y="1893600"/>
            <a:ext cx="6246186" cy="3891010"/>
            <a:chOff x="8817725" y="1987276"/>
            <a:chExt cx="6246186" cy="3891010"/>
          </a:xfrm>
        </p:grpSpPr>
        <p:sp>
          <p:nvSpPr>
            <p:cNvPr id="17" name="Shape 16">
              <a:extLst>
                <a:ext uri="{FF2B5EF4-FFF2-40B4-BE49-F238E27FC236}">
                  <a16:creationId xmlns:a16="http://schemas.microsoft.com/office/drawing/2014/main" id="{44DF16C0-14CA-3142-6BA8-F8C228FAB71D}"/>
                </a:ext>
              </a:extLst>
            </p:cNvPr>
            <p:cNvSpPr/>
            <p:nvPr/>
          </p:nvSpPr>
          <p:spPr>
            <a:xfrm>
              <a:off x="8853911" y="2360686"/>
              <a:ext cx="6210000" cy="3517600"/>
            </a:xfrm>
            <a:prstGeom prst="roundRect">
              <a:avLst>
                <a:gd name="adj" fmla="val 3002"/>
              </a:avLst>
            </a:prstGeom>
            <a:blipFill>
              <a:blip r:embed="rId5"/>
              <a:stretch>
                <a:fillRect/>
              </a:stretch>
            </a:blipFill>
            <a:ln w="3175">
              <a:solidFill>
                <a:schemeClr val="tx1"/>
              </a:solidFill>
              <a:prstDash val="solid"/>
            </a:ln>
          </p:spPr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8EC01AE9-DB68-0069-3F49-DC3823B3828A}"/>
                </a:ext>
              </a:extLst>
            </p:cNvPr>
            <p:cNvGrpSpPr/>
            <p:nvPr/>
          </p:nvGrpSpPr>
          <p:grpSpPr>
            <a:xfrm>
              <a:off x="8817725" y="1987276"/>
              <a:ext cx="4776483" cy="323850"/>
              <a:chOff x="952500" y="4391024"/>
              <a:chExt cx="4776483" cy="323850"/>
            </a:xfrm>
          </p:grpSpPr>
          <p:sp>
            <p:nvSpPr>
              <p:cNvPr id="20" name="Shape 7">
                <a:extLst>
                  <a:ext uri="{FF2B5EF4-FFF2-40B4-BE49-F238E27FC236}">
                    <a16:creationId xmlns:a16="http://schemas.microsoft.com/office/drawing/2014/main" id="{D6901228-69A5-580F-C77C-9C0D0A5D36B4}"/>
                  </a:ext>
                </a:extLst>
              </p:cNvPr>
              <p:cNvSpPr/>
              <p:nvPr/>
            </p:nvSpPr>
            <p:spPr>
              <a:xfrm>
                <a:off x="990600" y="4400550"/>
                <a:ext cx="285750" cy="285750"/>
              </a:xfrm>
              <a:prstGeom prst="roundRect">
                <a:avLst>
                  <a:gd name="adj" fmla="val 26667"/>
                </a:avLst>
              </a:prstGeom>
              <a:solidFill>
                <a:srgbClr val="EEF4FF"/>
              </a:solidFill>
              <a:ln/>
            </p:spPr>
          </p:sp>
          <p:grpSp>
            <p:nvGrpSpPr>
              <p:cNvPr id="21" name="그룹 20">
                <a:extLst>
                  <a:ext uri="{FF2B5EF4-FFF2-40B4-BE49-F238E27FC236}">
                    <a16:creationId xmlns:a16="http://schemas.microsoft.com/office/drawing/2014/main" id="{93B1625D-D579-9FDA-36C8-1830E4142866}"/>
                  </a:ext>
                </a:extLst>
              </p:cNvPr>
              <p:cNvGrpSpPr/>
              <p:nvPr/>
            </p:nvGrpSpPr>
            <p:grpSpPr>
              <a:xfrm>
                <a:off x="952500" y="4391024"/>
                <a:ext cx="4776483" cy="323850"/>
                <a:chOff x="952500" y="4391024"/>
                <a:chExt cx="4776483" cy="323850"/>
              </a:xfrm>
            </p:grpSpPr>
            <p:sp>
              <p:nvSpPr>
                <p:cNvPr id="24" name="Text 8">
                  <a:extLst>
                    <a:ext uri="{FF2B5EF4-FFF2-40B4-BE49-F238E27FC236}">
                      <a16:creationId xmlns:a16="http://schemas.microsoft.com/office/drawing/2014/main" id="{4E3EB787-81DE-71B2-123C-4A1CEC8009F8}"/>
                    </a:ext>
                  </a:extLst>
                </p:cNvPr>
                <p:cNvSpPr/>
                <p:nvPr/>
              </p:nvSpPr>
              <p:spPr>
                <a:xfrm>
                  <a:off x="952500" y="4391024"/>
                  <a:ext cx="361950" cy="323850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00" tIns="25400" rIns="25400" bIns="25400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1125" b="1" dirty="0">
                      <a:solidFill>
                        <a:srgbClr val="1B64DA"/>
                      </a:solidFill>
                      <a:latin typeface="Arial" panose="020B0604020202020204" pitchFamily="34" charset="0"/>
                      <a:ea typeface="Arial" pitchFamily="34" charset="-122"/>
                      <a:cs typeface="Arial" panose="020B0604020202020204" pitchFamily="34" charset="0"/>
                    </a:rPr>
                    <a:t>02</a:t>
                  </a:r>
                  <a:endParaRPr lang="en-US" sz="1125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5" name="Text 9">
                  <a:extLst>
                    <a:ext uri="{FF2B5EF4-FFF2-40B4-BE49-F238E27FC236}">
                      <a16:creationId xmlns:a16="http://schemas.microsoft.com/office/drawing/2014/main" id="{4A28B6C4-CDEF-A20B-4F81-AECD8EDD472B}"/>
                    </a:ext>
                  </a:extLst>
                </p:cNvPr>
                <p:cNvSpPr/>
                <p:nvPr/>
              </p:nvSpPr>
              <p:spPr>
                <a:xfrm>
                  <a:off x="1369944" y="4420633"/>
                  <a:ext cx="4359039" cy="266700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00" tIns="25400" rIns="25400" bIns="25400" rtlCol="0" anchor="t">
                  <a:normAutofit lnSpcReduction="10000"/>
                </a:bodyPr>
                <a:lstStyle/>
                <a:p>
                  <a:pPr marL="0" indent="0" algn="l">
                    <a:buNone/>
                  </a:pPr>
                  <a:r>
                    <a:rPr lang="ko-KR" altLang="en-US" sz="1500" b="1" dirty="0">
                      <a:solidFill>
                        <a:srgbClr val="0B1929"/>
                      </a:solidFill>
                      <a:latin typeface="Arial" panose="020B0604020202020204" pitchFamily="34" charset="0"/>
                      <a:ea typeface="Arial" pitchFamily="34" charset="-122"/>
                      <a:cs typeface="Arial" panose="020B0604020202020204" pitchFamily="34" charset="0"/>
                    </a:rPr>
                    <a:t>회원 관리 </a:t>
                  </a:r>
                  <a:r>
                    <a:rPr lang="ko-KR" altLang="en-US" sz="1000" dirty="0">
                      <a:solidFill>
                        <a:srgbClr val="3B4A5E"/>
                      </a:solidFill>
                      <a:latin typeface="Arial" panose="020B0604020202020204" pitchFamily="34" charset="0"/>
                      <a:ea typeface="Arial" pitchFamily="34" charset="-122"/>
                      <a:cs typeface="Arial" panose="020B0604020202020204" pitchFamily="34" charset="0"/>
                    </a:rPr>
                    <a:t>회원 정보 조회</a:t>
                  </a:r>
                  <a:r>
                    <a:rPr lang="en-US" altLang="ko-KR" sz="1000" dirty="0">
                      <a:solidFill>
                        <a:srgbClr val="3B4A5E"/>
                      </a:solidFill>
                      <a:latin typeface="Arial" panose="020B0604020202020204" pitchFamily="34" charset="0"/>
                      <a:ea typeface="Arial" pitchFamily="34" charset="-122"/>
                      <a:cs typeface="Arial" panose="020B0604020202020204" pitchFamily="34" charset="0"/>
                    </a:rPr>
                    <a:t>, </a:t>
                  </a:r>
                  <a:r>
                    <a:rPr lang="ko-KR" altLang="en-US" sz="1000" dirty="0">
                      <a:solidFill>
                        <a:srgbClr val="3B4A5E"/>
                      </a:solidFill>
                      <a:latin typeface="Arial" panose="020B0604020202020204" pitchFamily="34" charset="0"/>
                      <a:ea typeface="Arial" pitchFamily="34" charset="-122"/>
                      <a:cs typeface="Arial" panose="020B0604020202020204" pitchFamily="34" charset="0"/>
                    </a:rPr>
                    <a:t>콘 관리</a:t>
                  </a:r>
                  <a:r>
                    <a:rPr lang="en-US" altLang="ko-KR" sz="1000" dirty="0">
                      <a:solidFill>
                        <a:srgbClr val="3B4A5E"/>
                      </a:solidFill>
                      <a:latin typeface="Arial" panose="020B0604020202020204" pitchFamily="34" charset="0"/>
                      <a:ea typeface="Arial" pitchFamily="34" charset="-122"/>
                      <a:cs typeface="Arial" panose="020B0604020202020204" pitchFamily="34" charset="0"/>
                    </a:rPr>
                    <a:t>, </a:t>
                  </a:r>
                  <a:r>
                    <a:rPr lang="ko-KR" altLang="en-US" sz="1000" dirty="0">
                      <a:solidFill>
                        <a:srgbClr val="3B4A5E"/>
                      </a:solidFill>
                      <a:latin typeface="Arial" panose="020B0604020202020204" pitchFamily="34" charset="0"/>
                      <a:ea typeface="Arial" pitchFamily="34" charset="-122"/>
                      <a:cs typeface="Arial" panose="020B0604020202020204" pitchFamily="34" charset="0"/>
                    </a:rPr>
                    <a:t>휴가 개수 및 유형 조회</a:t>
                  </a:r>
                  <a:endParaRPr lang="en-US" sz="10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71D11791-6EE9-10D8-A067-84D410C150DA}"/>
              </a:ext>
            </a:extLst>
          </p:cNvPr>
          <p:cNvGrpSpPr/>
          <p:nvPr/>
        </p:nvGrpSpPr>
        <p:grpSpPr>
          <a:xfrm>
            <a:off x="781549" y="6026400"/>
            <a:ext cx="6246186" cy="3891010"/>
            <a:chOff x="772253" y="6177109"/>
            <a:chExt cx="6246186" cy="3891010"/>
          </a:xfrm>
        </p:grpSpPr>
        <p:sp>
          <p:nvSpPr>
            <p:cNvPr id="43" name="Shape 16">
              <a:extLst>
                <a:ext uri="{FF2B5EF4-FFF2-40B4-BE49-F238E27FC236}">
                  <a16:creationId xmlns:a16="http://schemas.microsoft.com/office/drawing/2014/main" id="{BCE13200-E535-0A17-8B10-31FF79154262}"/>
                </a:ext>
              </a:extLst>
            </p:cNvPr>
            <p:cNvSpPr/>
            <p:nvPr/>
          </p:nvSpPr>
          <p:spPr>
            <a:xfrm>
              <a:off x="808439" y="6550519"/>
              <a:ext cx="6210000" cy="3517600"/>
            </a:xfrm>
            <a:prstGeom prst="roundRect">
              <a:avLst>
                <a:gd name="adj" fmla="val 3002"/>
              </a:avLst>
            </a:prstGeom>
            <a:blipFill>
              <a:blip r:embed="rId6"/>
              <a:stretch>
                <a:fillRect/>
              </a:stretch>
            </a:blipFill>
            <a:ln w="3175">
              <a:solidFill>
                <a:schemeClr val="tx1"/>
              </a:solidFill>
              <a:prstDash val="solid"/>
            </a:ln>
          </p:spPr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44B2281A-3D85-A74F-5F87-D87522E8C553}"/>
                </a:ext>
              </a:extLst>
            </p:cNvPr>
            <p:cNvGrpSpPr/>
            <p:nvPr/>
          </p:nvGrpSpPr>
          <p:grpSpPr>
            <a:xfrm>
              <a:off x="772253" y="6177109"/>
              <a:ext cx="4776483" cy="323850"/>
              <a:chOff x="952500" y="4391024"/>
              <a:chExt cx="4776483" cy="323850"/>
            </a:xfrm>
          </p:grpSpPr>
          <p:sp>
            <p:nvSpPr>
              <p:cNvPr id="57" name="Shape 7">
                <a:extLst>
                  <a:ext uri="{FF2B5EF4-FFF2-40B4-BE49-F238E27FC236}">
                    <a16:creationId xmlns:a16="http://schemas.microsoft.com/office/drawing/2014/main" id="{E409FACC-2FEB-B310-41A0-5482E2E8FA26}"/>
                  </a:ext>
                </a:extLst>
              </p:cNvPr>
              <p:cNvSpPr/>
              <p:nvPr/>
            </p:nvSpPr>
            <p:spPr>
              <a:xfrm>
                <a:off x="990600" y="4400550"/>
                <a:ext cx="285750" cy="285750"/>
              </a:xfrm>
              <a:prstGeom prst="roundRect">
                <a:avLst>
                  <a:gd name="adj" fmla="val 26667"/>
                </a:avLst>
              </a:prstGeom>
              <a:solidFill>
                <a:srgbClr val="EEF4FF"/>
              </a:solidFill>
              <a:ln/>
            </p:spPr>
          </p:sp>
          <p:grpSp>
            <p:nvGrpSpPr>
              <p:cNvPr id="58" name="그룹 57">
                <a:extLst>
                  <a:ext uri="{FF2B5EF4-FFF2-40B4-BE49-F238E27FC236}">
                    <a16:creationId xmlns:a16="http://schemas.microsoft.com/office/drawing/2014/main" id="{87CAB523-374B-AF60-8703-C8FF0D386105}"/>
                  </a:ext>
                </a:extLst>
              </p:cNvPr>
              <p:cNvGrpSpPr/>
              <p:nvPr/>
            </p:nvGrpSpPr>
            <p:grpSpPr>
              <a:xfrm>
                <a:off x="952500" y="4391024"/>
                <a:ext cx="4776483" cy="323850"/>
                <a:chOff x="952500" y="4391024"/>
                <a:chExt cx="4776483" cy="323850"/>
              </a:xfrm>
            </p:grpSpPr>
            <p:sp>
              <p:nvSpPr>
                <p:cNvPr id="59" name="Text 8">
                  <a:extLst>
                    <a:ext uri="{FF2B5EF4-FFF2-40B4-BE49-F238E27FC236}">
                      <a16:creationId xmlns:a16="http://schemas.microsoft.com/office/drawing/2014/main" id="{B1D4BD96-436A-18CB-0914-A201917A3041}"/>
                    </a:ext>
                  </a:extLst>
                </p:cNvPr>
                <p:cNvSpPr/>
                <p:nvPr/>
              </p:nvSpPr>
              <p:spPr>
                <a:xfrm>
                  <a:off x="952500" y="4391024"/>
                  <a:ext cx="361950" cy="323850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00" tIns="25400" rIns="25400" bIns="25400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1125" b="1" dirty="0">
                      <a:solidFill>
                        <a:srgbClr val="1B64DA"/>
                      </a:solidFill>
                      <a:latin typeface="Arial" panose="020B0604020202020204" pitchFamily="34" charset="0"/>
                      <a:ea typeface="Arial" pitchFamily="34" charset="-122"/>
                      <a:cs typeface="Arial" panose="020B0604020202020204" pitchFamily="34" charset="0"/>
                    </a:rPr>
                    <a:t>03</a:t>
                  </a:r>
                </a:p>
              </p:txBody>
            </p:sp>
            <p:sp>
              <p:nvSpPr>
                <p:cNvPr id="60" name="Text 9">
                  <a:extLst>
                    <a:ext uri="{FF2B5EF4-FFF2-40B4-BE49-F238E27FC236}">
                      <a16:creationId xmlns:a16="http://schemas.microsoft.com/office/drawing/2014/main" id="{7964F413-BDCB-7293-A0F6-66F5D6BDB090}"/>
                    </a:ext>
                  </a:extLst>
                </p:cNvPr>
                <p:cNvSpPr/>
                <p:nvPr/>
              </p:nvSpPr>
              <p:spPr>
                <a:xfrm>
                  <a:off x="1369944" y="4420633"/>
                  <a:ext cx="4359039" cy="266700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00" tIns="25400" rIns="25400" bIns="25400" rtlCol="0" anchor="t">
                  <a:normAutofit lnSpcReduction="10000"/>
                </a:bodyPr>
                <a:lstStyle/>
                <a:p>
                  <a:pPr marL="0" indent="0" algn="l">
                    <a:buNone/>
                  </a:pPr>
                  <a:r>
                    <a:rPr lang="ko-KR" altLang="en-US" sz="1500" b="1" dirty="0">
                      <a:solidFill>
                        <a:srgbClr val="0B1929"/>
                      </a:solidFill>
                      <a:latin typeface="Arial" panose="020B0604020202020204" pitchFamily="34" charset="0"/>
                      <a:ea typeface="Arial" pitchFamily="34" charset="-122"/>
                      <a:cs typeface="Arial" panose="020B0604020202020204" pitchFamily="34" charset="0"/>
                    </a:rPr>
                    <a:t>경매 관리 </a:t>
                  </a:r>
                  <a:r>
                    <a:rPr lang="ko-KR" altLang="en-US" sz="1000" dirty="0">
                      <a:solidFill>
                        <a:srgbClr val="3B4A5E"/>
                      </a:solidFill>
                      <a:latin typeface="Arial" panose="020B0604020202020204" pitchFamily="34" charset="0"/>
                      <a:ea typeface="Arial" pitchFamily="34" charset="-122"/>
                      <a:cs typeface="Arial" panose="020B0604020202020204" pitchFamily="34" charset="0"/>
                    </a:rPr>
                    <a:t>경매 오픈</a:t>
                  </a:r>
                  <a:r>
                    <a:rPr lang="en-US" altLang="ko-KR" sz="1000" dirty="0">
                      <a:solidFill>
                        <a:srgbClr val="3B4A5E"/>
                      </a:solidFill>
                      <a:latin typeface="Arial" panose="020B0604020202020204" pitchFamily="34" charset="0"/>
                      <a:ea typeface="Arial" pitchFamily="34" charset="-122"/>
                      <a:cs typeface="Arial" panose="020B0604020202020204" pitchFamily="34" charset="0"/>
                    </a:rPr>
                    <a:t>, </a:t>
                  </a:r>
                  <a:r>
                    <a:rPr lang="ko-KR" altLang="en-US" sz="1000" dirty="0">
                      <a:solidFill>
                        <a:srgbClr val="3B4A5E"/>
                      </a:solidFill>
                      <a:latin typeface="Arial" panose="020B0604020202020204" pitchFamily="34" charset="0"/>
                      <a:ea typeface="Arial" pitchFamily="34" charset="-122"/>
                      <a:cs typeface="Arial" panose="020B0604020202020204" pitchFamily="34" charset="0"/>
                    </a:rPr>
                    <a:t>경매 마감 관리</a:t>
                  </a:r>
                  <a:endParaRPr lang="en-US" sz="10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3299C02C-D2E1-6478-D98E-9C17EC2E5483}"/>
              </a:ext>
            </a:extLst>
          </p:cNvPr>
          <p:cNvGrpSpPr/>
          <p:nvPr/>
        </p:nvGrpSpPr>
        <p:grpSpPr>
          <a:xfrm>
            <a:off x="8800353" y="6026442"/>
            <a:ext cx="6246186" cy="3891010"/>
            <a:chOff x="8817725" y="6147500"/>
            <a:chExt cx="6246186" cy="3891010"/>
          </a:xfrm>
        </p:grpSpPr>
        <p:sp>
          <p:nvSpPr>
            <p:cNvPr id="61" name="Shape 16">
              <a:extLst>
                <a:ext uri="{FF2B5EF4-FFF2-40B4-BE49-F238E27FC236}">
                  <a16:creationId xmlns:a16="http://schemas.microsoft.com/office/drawing/2014/main" id="{9EDF01DB-A712-8DB6-93AA-B03E6DC0D744}"/>
                </a:ext>
              </a:extLst>
            </p:cNvPr>
            <p:cNvSpPr/>
            <p:nvPr/>
          </p:nvSpPr>
          <p:spPr>
            <a:xfrm>
              <a:off x="8853911" y="6520910"/>
              <a:ext cx="6210000" cy="3517600"/>
            </a:xfrm>
            <a:prstGeom prst="roundRect">
              <a:avLst>
                <a:gd name="adj" fmla="val 3002"/>
              </a:avLst>
            </a:prstGeom>
            <a:blipFill>
              <a:blip r:embed="rId7"/>
              <a:stretch>
                <a:fillRect/>
              </a:stretch>
            </a:blipFill>
            <a:ln w="3175">
              <a:solidFill>
                <a:schemeClr val="tx1"/>
              </a:solidFill>
              <a:prstDash val="solid"/>
            </a:ln>
          </p:spPr>
        </p:sp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D8A49168-81F2-89D8-6F48-9AA051309EB9}"/>
                </a:ext>
              </a:extLst>
            </p:cNvPr>
            <p:cNvGrpSpPr/>
            <p:nvPr/>
          </p:nvGrpSpPr>
          <p:grpSpPr>
            <a:xfrm>
              <a:off x="8817725" y="6147500"/>
              <a:ext cx="4776483" cy="323850"/>
              <a:chOff x="952500" y="4391024"/>
              <a:chExt cx="4776483" cy="323850"/>
            </a:xfrm>
          </p:grpSpPr>
          <p:sp>
            <p:nvSpPr>
              <p:cNvPr id="63" name="Shape 7">
                <a:extLst>
                  <a:ext uri="{FF2B5EF4-FFF2-40B4-BE49-F238E27FC236}">
                    <a16:creationId xmlns:a16="http://schemas.microsoft.com/office/drawing/2014/main" id="{C3145B00-FCBE-0805-7F63-C02DA74ACA19}"/>
                  </a:ext>
                </a:extLst>
              </p:cNvPr>
              <p:cNvSpPr/>
              <p:nvPr/>
            </p:nvSpPr>
            <p:spPr>
              <a:xfrm>
                <a:off x="990600" y="4400550"/>
                <a:ext cx="285750" cy="285750"/>
              </a:xfrm>
              <a:prstGeom prst="roundRect">
                <a:avLst>
                  <a:gd name="adj" fmla="val 26667"/>
                </a:avLst>
              </a:prstGeom>
              <a:solidFill>
                <a:srgbClr val="EEF4FF"/>
              </a:solidFill>
              <a:ln/>
            </p:spPr>
          </p:sp>
          <p:grpSp>
            <p:nvGrpSpPr>
              <p:cNvPr id="71" name="그룹 70">
                <a:extLst>
                  <a:ext uri="{FF2B5EF4-FFF2-40B4-BE49-F238E27FC236}">
                    <a16:creationId xmlns:a16="http://schemas.microsoft.com/office/drawing/2014/main" id="{5E666A68-D0E5-9B10-DA18-8BE2E9DA033B}"/>
                  </a:ext>
                </a:extLst>
              </p:cNvPr>
              <p:cNvGrpSpPr/>
              <p:nvPr/>
            </p:nvGrpSpPr>
            <p:grpSpPr>
              <a:xfrm>
                <a:off x="952500" y="4391024"/>
                <a:ext cx="4776483" cy="323850"/>
                <a:chOff x="952500" y="4391024"/>
                <a:chExt cx="4776483" cy="323850"/>
              </a:xfrm>
            </p:grpSpPr>
            <p:sp>
              <p:nvSpPr>
                <p:cNvPr id="72" name="Text 8">
                  <a:extLst>
                    <a:ext uri="{FF2B5EF4-FFF2-40B4-BE49-F238E27FC236}">
                      <a16:creationId xmlns:a16="http://schemas.microsoft.com/office/drawing/2014/main" id="{12FCCE56-3D88-E310-B036-D3BCFB4A85AD}"/>
                    </a:ext>
                  </a:extLst>
                </p:cNvPr>
                <p:cNvSpPr/>
                <p:nvPr/>
              </p:nvSpPr>
              <p:spPr>
                <a:xfrm>
                  <a:off x="952500" y="4391024"/>
                  <a:ext cx="361950" cy="323850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00" tIns="25400" rIns="25400" bIns="25400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1125" b="1" dirty="0">
                      <a:solidFill>
                        <a:srgbClr val="1B64DA"/>
                      </a:solidFill>
                      <a:latin typeface="Arial" panose="020B0604020202020204" pitchFamily="34" charset="0"/>
                      <a:ea typeface="Arial" pitchFamily="34" charset="-122"/>
                      <a:cs typeface="Arial" panose="020B0604020202020204" pitchFamily="34" charset="0"/>
                    </a:rPr>
                    <a:t>04</a:t>
                  </a:r>
                  <a:endParaRPr lang="en-US" sz="1125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3" name="Text 9">
                  <a:extLst>
                    <a:ext uri="{FF2B5EF4-FFF2-40B4-BE49-F238E27FC236}">
                      <a16:creationId xmlns:a16="http://schemas.microsoft.com/office/drawing/2014/main" id="{1F74B97F-8AD3-BEF7-7B27-BC0DC1085AB1}"/>
                    </a:ext>
                  </a:extLst>
                </p:cNvPr>
                <p:cNvSpPr/>
                <p:nvPr/>
              </p:nvSpPr>
              <p:spPr>
                <a:xfrm>
                  <a:off x="1369944" y="4420633"/>
                  <a:ext cx="4359039" cy="266700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00" tIns="25400" rIns="25400" bIns="25400" rtlCol="0" anchor="t">
                  <a:normAutofit lnSpcReduction="10000"/>
                </a:bodyPr>
                <a:lstStyle/>
                <a:p>
                  <a:pPr marL="0" indent="0" algn="l">
                    <a:buNone/>
                  </a:pPr>
                  <a:r>
                    <a:rPr lang="ko-KR" altLang="en-US" sz="1500" b="1" dirty="0">
                      <a:solidFill>
                        <a:srgbClr val="0B1929"/>
                      </a:solidFill>
                      <a:latin typeface="Arial" panose="020B0604020202020204" pitchFamily="34" charset="0"/>
                      <a:ea typeface="Arial" pitchFamily="34" charset="-122"/>
                      <a:cs typeface="Arial" panose="020B0604020202020204" pitchFamily="34" charset="0"/>
                    </a:rPr>
                    <a:t>원장 </a:t>
                  </a:r>
                  <a:r>
                    <a:rPr lang="ko-KR" altLang="en-US" sz="1000" dirty="0">
                      <a:solidFill>
                        <a:srgbClr val="3B4A5E"/>
                      </a:solidFill>
                      <a:latin typeface="Arial" panose="020B0604020202020204" pitchFamily="34" charset="0"/>
                      <a:ea typeface="Arial" pitchFamily="34" charset="-122"/>
                      <a:cs typeface="Arial" panose="020B0604020202020204" pitchFamily="34" charset="0"/>
                    </a:rPr>
                    <a:t>연차경매시스템의 모든 활동 기록</a:t>
                  </a:r>
                  <a:r>
                    <a:rPr lang="en-US" altLang="ko-KR" sz="1000" dirty="0">
                      <a:solidFill>
                        <a:srgbClr val="3B4A5E"/>
                      </a:solidFill>
                      <a:latin typeface="Arial" panose="020B0604020202020204" pitchFamily="34" charset="0"/>
                      <a:ea typeface="Arial" pitchFamily="34" charset="-122"/>
                      <a:cs typeface="Arial" panose="020B0604020202020204" pitchFamily="34" charset="0"/>
                    </a:rPr>
                    <a:t>(</a:t>
                  </a:r>
                  <a:r>
                    <a:rPr lang="ko-KR" altLang="en-US" sz="1000" dirty="0">
                      <a:solidFill>
                        <a:srgbClr val="3B4A5E"/>
                      </a:solidFill>
                      <a:latin typeface="Arial" panose="020B0604020202020204" pitchFamily="34" charset="0"/>
                      <a:ea typeface="Arial" pitchFamily="34" charset="-122"/>
                      <a:cs typeface="Arial" panose="020B0604020202020204" pitchFamily="34" charset="0"/>
                    </a:rPr>
                    <a:t>수정 절대 불가</a:t>
                  </a:r>
                  <a:r>
                    <a:rPr lang="en-US" altLang="ko-KR" sz="1000" dirty="0">
                      <a:solidFill>
                        <a:srgbClr val="3B4A5E"/>
                      </a:solidFill>
                      <a:latin typeface="Arial" panose="020B0604020202020204" pitchFamily="34" charset="0"/>
                      <a:ea typeface="Arial" pitchFamily="34" charset="-122"/>
                      <a:cs typeface="Arial" panose="020B0604020202020204" pitchFamily="34" charset="0"/>
                    </a:rPr>
                    <a:t>)</a:t>
                  </a:r>
                  <a:endParaRPr lang="en-US" sz="10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7886734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1352</TotalTime>
  <Words>306</Words>
  <Application>Microsoft Office PowerPoint</Application>
  <PresentationFormat>사용자 지정</PresentationFormat>
  <Paragraphs>68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김기철</cp:lastModifiedBy>
  <cp:revision>14</cp:revision>
  <cp:lastPrinted>2026-06-05T07:20:13Z</cp:lastPrinted>
  <dcterms:created xsi:type="dcterms:W3CDTF">2026-06-04T08:35:53Z</dcterms:created>
  <dcterms:modified xsi:type="dcterms:W3CDTF">2026-06-05T07:21:23Z</dcterms:modified>
</cp:coreProperties>
</file>